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docx" ContentType="application/vnd.openxmlformats-officedocument.wordprocessingml.document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3281" r:id="rId3"/>
    <p:sldId id="3561" r:id="rId5"/>
    <p:sldId id="3651" r:id="rId6"/>
    <p:sldId id="3715" r:id="rId7"/>
    <p:sldId id="3696" r:id="rId8"/>
    <p:sldId id="3697" r:id="rId9"/>
    <p:sldId id="3721" r:id="rId10"/>
    <p:sldId id="3718" r:id="rId11"/>
    <p:sldId id="3723" r:id="rId12"/>
    <p:sldId id="3722" r:id="rId13"/>
    <p:sldId id="3725" r:id="rId14"/>
    <p:sldId id="3698" r:id="rId15"/>
    <p:sldId id="3699" r:id="rId16"/>
    <p:sldId id="3700" r:id="rId17"/>
    <p:sldId id="3701" r:id="rId18"/>
    <p:sldId id="3719" r:id="rId19"/>
    <p:sldId id="3736" r:id="rId20"/>
    <p:sldId id="3635" r:id="rId21"/>
  </p:sldIdLst>
  <p:sldSz cx="9906000" cy="6858000" type="A4"/>
  <p:notesSz cx="6797675" cy="9926320"/>
  <p:custDataLst>
    <p:tags r:id="rId2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800" kern="1200">
        <a:solidFill>
          <a:schemeClr val="tx1"/>
        </a:solidFill>
        <a:latin typeface="黑体" panose="02010609060101010101" pitchFamily="2" charset="-122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6" userDrawn="1">
          <p15:clr>
            <a:srgbClr val="A4A3A4"/>
          </p15:clr>
        </p15:guide>
        <p15:guide id="2" orient="horz" pos="3822" userDrawn="1">
          <p15:clr>
            <a:srgbClr val="A4A3A4"/>
          </p15:clr>
        </p15:guide>
        <p15:guide id="3" pos="6108" userDrawn="1">
          <p15:clr>
            <a:srgbClr val="A4A3A4"/>
          </p15:clr>
        </p15:guide>
        <p15:guide id="4" pos="5488" userDrawn="1">
          <p15:clr>
            <a:srgbClr val="A4A3A4"/>
          </p15:clr>
        </p15:guide>
        <p15:guide id="5" pos="3816" userDrawn="1">
          <p15:clr>
            <a:srgbClr val="A4A3A4"/>
          </p15:clr>
        </p15:guide>
        <p15:guide id="6" pos="3984" userDrawn="1">
          <p15:clr>
            <a:srgbClr val="A4A3A4"/>
          </p15:clr>
        </p15:guide>
        <p15:guide id="7" pos="810" userDrawn="1">
          <p15:clr>
            <a:srgbClr val="A4A3A4"/>
          </p15:clr>
        </p15:guide>
        <p15:guide id="8" pos="57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ngfeng" initials="" lastIdx="1" clrIdx="0"/>
  <p:cmAuthor id="1" name="Ruxiang Cai" initials="RC" lastIdx="1" clrIdx="0"/>
  <p:cmAuthor id="2" name="Administrat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6666"/>
    <a:srgbClr val="0000FF"/>
    <a:srgbClr val="66FF33"/>
    <a:srgbClr val="EBF9F1"/>
    <a:srgbClr val="C5F9CB"/>
    <a:srgbClr val="CCFF99"/>
    <a:srgbClr val="4249FF"/>
    <a:srgbClr val="8C97FF"/>
    <a:srgbClr val="E9F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03" autoAdjust="0"/>
    <p:restoredTop sz="88131" autoAdjust="0"/>
  </p:normalViewPr>
  <p:slideViewPr>
    <p:cSldViewPr showGuides="1">
      <p:cViewPr varScale="1">
        <p:scale>
          <a:sx n="116" d="100"/>
          <a:sy n="116" d="100"/>
        </p:scale>
        <p:origin x="876" y="90"/>
      </p:cViewPr>
      <p:guideLst>
        <p:guide orient="horz" pos="896"/>
        <p:guide orient="horz" pos="3822"/>
        <p:guide pos="6108"/>
        <p:guide pos="5488"/>
        <p:guide pos="3816"/>
        <p:guide pos="3984"/>
        <p:guide pos="810"/>
        <p:guide pos="57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958" y="-72"/>
      </p:cViewPr>
      <p:guideLst>
        <p:guide orient="horz" pos="3275"/>
        <p:guide pos="203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9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4813" cy="4968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6" tIns="45713" rIns="91426" bIns="45713" numCol="1" anchor="t" anchorCtr="0" compatLnSpc="1"/>
          <a:lstStyle>
            <a:lvl1pPr algn="l" eaLnBrk="0" hangingPunct="0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6" y="0"/>
            <a:ext cx="2944813" cy="4968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6" tIns="45713" rIns="91426" bIns="45713" numCol="1" anchor="t" anchorCtr="0" compatLnSpc="1"/>
          <a:lstStyle>
            <a:lvl1pPr algn="r" eaLnBrk="0" hangingPunct="0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96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242"/>
            <a:ext cx="2944813" cy="4968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6" tIns="45713" rIns="91426" bIns="45713" numCol="1" anchor="b" anchorCtr="0" compatLnSpc="1"/>
          <a:lstStyle>
            <a:lvl1pPr algn="l" eaLnBrk="0" hangingPunct="0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96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6" y="9428242"/>
            <a:ext cx="2944813" cy="49680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6" tIns="45713" rIns="91426" bIns="45713" numCol="1" anchor="b" anchorCtr="0" compatLnSpc="1"/>
          <a:lstStyle>
            <a:lvl1pPr algn="r" eaLnBrk="0" hangingPunct="0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4C9449-3911-41AC-8207-D7ACF343031E}" type="slidenum">
              <a:rPr lang="zh-CN" altLang="en-US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813" cy="496809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l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276" y="0"/>
            <a:ext cx="2944813" cy="496809"/>
          </a:xfrm>
          <a:prstGeom prst="rect">
            <a:avLst/>
          </a:prstGeom>
        </p:spPr>
        <p:txBody>
          <a:bodyPr vert="horz" lIns="91426" tIns="45713" rIns="91426" bIns="45713" rtlCol="0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6" tIns="45713" rIns="91426" bIns="4571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450" y="4715710"/>
            <a:ext cx="5438775" cy="4466511"/>
          </a:xfrm>
          <a:prstGeom prst="rect">
            <a:avLst/>
          </a:prstGeom>
        </p:spPr>
        <p:txBody>
          <a:bodyPr vert="horz" lIns="91426" tIns="45713" rIns="91426" bIns="4571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28242"/>
            <a:ext cx="2944813" cy="496809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l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276" y="9428242"/>
            <a:ext cx="2944813" cy="496809"/>
          </a:xfrm>
          <a:prstGeom prst="rect">
            <a:avLst/>
          </a:prstGeom>
        </p:spPr>
        <p:txBody>
          <a:bodyPr vert="horz" lIns="91426" tIns="45713" rIns="91426" bIns="45713" rtlCol="0" anchor="b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A50ABB4-1A86-43E4-9BC4-ABB80018DA9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21507" name="日期占位符 5"/>
          <p:cNvSpPr>
            <a:spLocks noGrp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8B6735-7784-47C7-842E-379096A703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zh-CN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宋体" panose="02010600030101010101" pitchFamily="2" charset="-122"/>
                <a:sym typeface="+mn-ea"/>
              </a:rPr>
              <a:t>本项目共涉及数据资源关系智能识别、数据资源关系知识库、数据资源关系云图、数据资源关系检索、数据资源关系使用管理、系统配置管理，总共6个一级功能模块，17个二级功能模块、50个三级功能点。</a:t>
            </a:r>
            <a:endParaRPr lang="zh-CN" altLang="zh-CN" dirty="0">
              <a:ln>
                <a:noFill/>
              </a:ln>
              <a:solidFill>
                <a:srgbClr val="000000"/>
              </a:solidFill>
              <a:effectLst/>
              <a:latin typeface="+mn-ea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数据使用申请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为业务数据使用者、管理者提供数使用申请流程，根据申请反馈结果，完成数据分发，达到数据使用目的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数据加工服务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用户可根据自身数据需求，完成所需数据视图的可视化构建。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数据检索服务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按照不同维度条件，采用搜素算法，实现对所需数据的准确定位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数据使用申请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为业务数据使用者、管理者提供数使用申请流程，根据申请反馈结果，完成数据分发，达到数据使用目的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数据加工服务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用户可根据自身数据需求，完成所需数据视图的可视化构建。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数据检索服务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按照不同维度条件，采用搜素算法，实现对所需数据的准确定位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多维电工装备运行数据综合分析与应用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按照不同维度对数据资源进行展示，便于数据检索和数据访问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门户基础功能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主要是电工装备运行数据综合分析与应用工具综合管理模块，包括用户管理、人员管理、权限管理等功能。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9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684213"/>
            <a:ext cx="4568825" cy="3425825"/>
          </a:xfrm>
          <a:ln>
            <a:noFill/>
          </a:ln>
        </p:spPr>
      </p:sp>
      <p:sp>
        <p:nvSpPr>
          <p:cNvPr id="1193987" name="备注占位符 2"/>
          <p:cNvSpPr>
            <a:spLocks noGrp="1" noRot="1" noChangeAspect="1" noChangeArrowheads="1"/>
          </p:cNvSpPr>
          <p:nvPr>
            <p:ph type="body" idx="1"/>
          </p:nvPr>
        </p:nvSpPr>
        <p:spPr bwMode="auto">
          <a:xfrm>
            <a:off x="685801" y="4400550"/>
            <a:ext cx="5486400" cy="3600450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193988" name="灯片编号占位符 3"/>
          <p:cNvSpPr>
            <a:spLocks noGrp="1" noChangeArrowheads="1"/>
          </p:cNvSpPr>
          <p:nvPr/>
        </p:nvSpPr>
        <p:spPr bwMode="auto">
          <a:xfrm>
            <a:off x="3879850" y="8682039"/>
            <a:ext cx="2973388" cy="458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34209" tIns="67105" rIns="134209" bIns="67105" anchor="b"/>
          <a:lstStyle/>
          <a:p>
            <a:pPr algn="r">
              <a:buFont typeface="Arial" panose="020B0604020202020204" pitchFamily="34" charset="0"/>
              <a:buNone/>
            </a:pPr>
            <a:fld id="{8F76BF7B-6C3A-4EAC-B04A-EEC3878A8B36}" type="slidenum"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</a:fld>
            <a:endParaRPr lang="en-US" altLang="zh-CN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数据使用申请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为业务数据使用者、管理者提供数使用申请流程，根据申请反馈结果，完成数据分发，达到数据使用目的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数据加工服务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用户可根据自身数据需求，完成所需数据视图的可视化构建。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数据检索服务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按照不同维度条件，采用搜素算法，实现对所需数据的准确定位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多维电工装备运行数据综合分析与应用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按照不同维度对数据资源进行展示，便于数据检索和数据访问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门户基础功能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+mn-cs"/>
              </a:rPr>
              <a:t>主要是电工装备运行数据综合分析与应用工具综合管理模块，包括用户管理、人员管理、权限管理等功能。</a:t>
            </a:r>
            <a:endParaRPr lang="zh-CN" altLang="zh-CN" sz="1200" kern="1200" dirty="0">
              <a:solidFill>
                <a:schemeClr val="tx1"/>
              </a:solidFill>
              <a:effectLst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20725" y="750888"/>
            <a:ext cx="5357813" cy="3709987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73730" name="Rectangle 3"/>
          <p:cNvSpPr>
            <a:spLocks noGrp="1"/>
          </p:cNvSpPr>
          <p:nvPr>
            <p:ph type="body" idx="1"/>
          </p:nvPr>
        </p:nvSpPr>
        <p:spPr bwMode="auto">
          <a:xfrm>
            <a:off x="906463" y="4715710"/>
            <a:ext cx="4984750" cy="4466511"/>
          </a:xfrm>
          <a:noFill/>
        </p:spPr>
        <p:txBody>
          <a:bodyPr wrap="square" numCol="1" anchor="t" anchorCtr="0" compatLnSpc="1"/>
          <a:lstStyle/>
          <a:p>
            <a:endParaRPr lang="zh-CN" altLang="en-US"/>
          </a:p>
        </p:txBody>
      </p:sp>
      <p:sp>
        <p:nvSpPr>
          <p:cNvPr id="73731" name="日期占位符 4"/>
          <p:cNvSpPr>
            <a:spLocks noGrp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868"/>
            <a:ext cx="84201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CA20F-90DE-430D-9BAF-66634A917E2D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B5B46-782E-4EF8-9BC7-C6D6BAE8A7BF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C8A79-0905-4099-92EF-5881E5AC4E37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8076" y="0"/>
            <a:ext cx="7527925" cy="908720"/>
          </a:xfrm>
        </p:spPr>
        <p:txBody>
          <a:bodyPr/>
          <a:lstStyle>
            <a:lvl1pPr>
              <a:defRPr sz="2800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</p:spPr>
        <p:txBody>
          <a:bodyPr/>
          <a:lstStyle>
            <a:lvl1pPr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05D8B-81A5-4C13-8163-782B30C99C55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6797" y="141288"/>
            <a:ext cx="80348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770" y="457200"/>
            <a:ext cx="45124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615120" y="457201"/>
            <a:ext cx="668655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09770" y="2057400"/>
            <a:ext cx="4512461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</p:spPr>
        <p:txBody>
          <a:bodyPr/>
          <a:lstStyle/>
          <a:p>
            <a:fld id="{06F60DB7-6E48-4466-B7A9-24611520A4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80228-2542-4D60-A0C5-A609CA69BF6D}" type="slidenum">
              <a:rPr lang="zh-CN" altLang="en-US"/>
            </a:fld>
            <a:endParaRPr lang="en-US" altLang="zh-CN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4.xml"/><Relationship Id="rId11" Type="http://schemas.openxmlformats.org/officeDocument/2006/relationships/tags" Target="../tags/tag3.xml"/><Relationship Id="rId10" Type="http://schemas.openxmlformats.org/officeDocument/2006/relationships/tags" Target="../tags/tag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78075" y="0"/>
            <a:ext cx="7527925" cy="1341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56" name="AcnStamp_ID_2056" hidden="1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8828088" y="1387475"/>
            <a:ext cx="1077912" cy="266700"/>
          </a:xfrm>
          <a:prstGeom prst="leftRightArrow">
            <a:avLst>
              <a:gd name="adj1" fmla="val 100000"/>
              <a:gd name="adj2" fmla="val 0"/>
            </a:avLst>
          </a:prstGeom>
          <a:noFill/>
          <a:ln w="12700" algn="ctr">
            <a:noFill/>
            <a:miter lim="800000"/>
          </a:ln>
          <a:effectLst/>
        </p:spPr>
        <p:txBody>
          <a:bodyPr wrap="none" lIns="0" tIns="25400" rIns="0" bIns="25400">
            <a:spAutoFit/>
          </a:bodyPr>
          <a:lstStyle/>
          <a:p>
            <a:pPr algn="r">
              <a:defRPr/>
            </a:pPr>
            <a:r>
              <a:rPr lang="en-US" altLang="zh-CN" sz="1400" b="1" dirty="0">
                <a:ea typeface="黑体" panose="02010609060101010101" pitchFamily="2" charset="-122"/>
              </a:rPr>
              <a:t>MASTER STAMP</a:t>
            </a:r>
            <a:endParaRPr lang="en-US" altLang="zh-CN" sz="1400" b="1" dirty="0">
              <a:ea typeface="黑体" panose="02010609060101010101" pitchFamily="2" charset="-122"/>
            </a:endParaRPr>
          </a:p>
        </p:txBody>
      </p:sp>
      <p:cxnSp>
        <p:nvCxnSpPr>
          <p:cNvPr id="1029" name="AcnStpConnector_ID_2057" hidden="1"/>
          <p:cNvCxnSpPr>
            <a:cxnSpLocks noChangeShapeType="1"/>
            <a:stCxn id="2056" idx="2"/>
            <a:endCxn id="2056" idx="0"/>
          </p:cNvCxnSpPr>
          <p:nvPr>
            <p:custDataLst>
              <p:tags r:id="rId10"/>
            </p:custDataLst>
          </p:nvPr>
        </p:nvCxnSpPr>
        <p:spPr bwMode="gray">
          <a:xfrm>
            <a:off x="8828088" y="1387475"/>
            <a:ext cx="107791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cxnSp>
        <p:nvCxnSpPr>
          <p:cNvPr id="1030" name="AcnStpConnector_ID_2058" hidden="1"/>
          <p:cNvCxnSpPr>
            <a:cxnSpLocks noChangeShapeType="1"/>
            <a:stCxn id="2056" idx="4"/>
            <a:endCxn id="2056" idx="6"/>
          </p:cNvCxnSpPr>
          <p:nvPr>
            <p:custDataLst>
              <p:tags r:id="rId11"/>
            </p:custDataLst>
          </p:nvPr>
        </p:nvCxnSpPr>
        <p:spPr bwMode="gray">
          <a:xfrm>
            <a:off x="8828088" y="1654175"/>
            <a:ext cx="1077912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</a:ln>
        </p:spPr>
      </p:cxnSp>
      <p:sp>
        <p:nvSpPr>
          <p:cNvPr id="2059" name="AcnSubjectTitle_ID_2059" hidden="1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2378075" y="1420813"/>
            <a:ext cx="7567613" cy="2444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r>
              <a:rPr lang="en-US" altLang="zh-CN" sz="16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Subject Title</a:t>
            </a:r>
            <a:endParaRPr lang="en-US" altLang="zh-CN" sz="16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556500" y="6437313"/>
            <a:ext cx="2311400" cy="376237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ea typeface="黑体" panose="02010609060101010101" pitchFamily="2" charset="-122"/>
              </a:defRPr>
            </a:lvl1pPr>
          </a:lstStyle>
          <a:p>
            <a:pPr>
              <a:defRPr/>
            </a:pPr>
            <a:fld id="{13A59999-9FC5-4613-A23C-583869126158}" type="slidenum">
              <a:rPr lang="en-US" altLang="zh-CN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黑体" panose="02010609060101010101" pitchFamily="2" charset="-122"/>
          <a:ea typeface="黑体" panose="0201060906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4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tags" Target="../tags/tag6.xml"/><Relationship Id="rId34" Type="http://schemas.openxmlformats.org/officeDocument/2006/relationships/notesSlide" Target="../notesSlides/notesSlide2.xml"/><Relationship Id="rId33" Type="http://schemas.openxmlformats.org/officeDocument/2006/relationships/vmlDrawing" Target="../drawings/vmlDrawing1.v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24.xml"/><Relationship Id="rId30" Type="http://schemas.openxmlformats.org/officeDocument/2006/relationships/image" Target="../media/image11.png"/><Relationship Id="rId3" Type="http://schemas.openxmlformats.org/officeDocument/2006/relationships/tags" Target="../tags/tag5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image" Target="../media/image10.png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image" Target="../media/image9.png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image" Target="../media/image8.png"/><Relationship Id="rId2" Type="http://schemas.openxmlformats.org/officeDocument/2006/relationships/image" Target="../media/image2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image" Target="../media/image7.png"/><Relationship Id="rId16" Type="http://schemas.openxmlformats.org/officeDocument/2006/relationships/tags" Target="../tags/tag14.xml"/><Relationship Id="rId15" Type="http://schemas.openxmlformats.org/officeDocument/2006/relationships/image" Target="../media/image6.png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4.png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image" Target="../media/image3.png"/><Relationship Id="rId4" Type="http://schemas.openxmlformats.org/officeDocument/2006/relationships/tags" Target="../tags/tag26.xml"/><Relationship Id="rId34" Type="http://schemas.openxmlformats.org/officeDocument/2006/relationships/notesSlide" Target="../notesSlides/notesSlide4.xml"/><Relationship Id="rId33" Type="http://schemas.openxmlformats.org/officeDocument/2006/relationships/vmlDrawing" Target="../drawings/vmlDrawing2.v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44.xml"/><Relationship Id="rId30" Type="http://schemas.openxmlformats.org/officeDocument/2006/relationships/image" Target="../media/image11.png"/><Relationship Id="rId3" Type="http://schemas.openxmlformats.org/officeDocument/2006/relationships/tags" Target="../tags/tag25.xml"/><Relationship Id="rId29" Type="http://schemas.openxmlformats.org/officeDocument/2006/relationships/tags" Target="../tags/tag43.xml"/><Relationship Id="rId28" Type="http://schemas.openxmlformats.org/officeDocument/2006/relationships/tags" Target="../tags/tag42.xml"/><Relationship Id="rId27" Type="http://schemas.openxmlformats.org/officeDocument/2006/relationships/image" Target="../media/image10.png"/><Relationship Id="rId26" Type="http://schemas.openxmlformats.org/officeDocument/2006/relationships/tags" Target="../tags/tag41.xml"/><Relationship Id="rId25" Type="http://schemas.openxmlformats.org/officeDocument/2006/relationships/tags" Target="../tags/tag40.xml"/><Relationship Id="rId24" Type="http://schemas.openxmlformats.org/officeDocument/2006/relationships/tags" Target="../tags/tag39.xml"/><Relationship Id="rId23" Type="http://schemas.openxmlformats.org/officeDocument/2006/relationships/image" Target="../media/image9.png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image" Target="../media/image8.png"/><Relationship Id="rId2" Type="http://schemas.openxmlformats.org/officeDocument/2006/relationships/image" Target="../media/image2.png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image" Target="../media/image7.png"/><Relationship Id="rId16" Type="http://schemas.openxmlformats.org/officeDocument/2006/relationships/tags" Target="../tags/tag34.xml"/><Relationship Id="rId15" Type="http://schemas.openxmlformats.org/officeDocument/2006/relationships/image" Target="../media/image6.png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image" Target="../media/image5.png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3.wmf"/><Relationship Id="rId4" Type="http://schemas.openxmlformats.org/officeDocument/2006/relationships/oleObject" Target="../embeddings/Document2.doc"/><Relationship Id="rId3" Type="http://schemas.openxmlformats.org/officeDocument/2006/relationships/image" Target="../media/image12.wmf"/><Relationship Id="rId2" Type="http://schemas.openxmlformats.org/officeDocument/2006/relationships/oleObject" Target="../embeddings/Document1.doc"/><Relationship Id="rId1" Type="http://schemas.openxmlformats.org/officeDocument/2006/relationships/tags" Target="../tags/tag4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4.png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3.png"/><Relationship Id="rId4" Type="http://schemas.openxmlformats.org/officeDocument/2006/relationships/tags" Target="../tags/tag47.xml"/><Relationship Id="rId34" Type="http://schemas.openxmlformats.org/officeDocument/2006/relationships/notesSlide" Target="../notesSlides/notesSlide6.xml"/><Relationship Id="rId33" Type="http://schemas.openxmlformats.org/officeDocument/2006/relationships/vmlDrawing" Target="../drawings/vmlDrawing4.v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65.xml"/><Relationship Id="rId30" Type="http://schemas.openxmlformats.org/officeDocument/2006/relationships/image" Target="../media/image11.png"/><Relationship Id="rId3" Type="http://schemas.openxmlformats.org/officeDocument/2006/relationships/tags" Target="../tags/tag46.xml"/><Relationship Id="rId29" Type="http://schemas.openxmlformats.org/officeDocument/2006/relationships/tags" Target="../tags/tag64.xml"/><Relationship Id="rId28" Type="http://schemas.openxmlformats.org/officeDocument/2006/relationships/tags" Target="../tags/tag63.xml"/><Relationship Id="rId27" Type="http://schemas.openxmlformats.org/officeDocument/2006/relationships/image" Target="../media/image10.png"/><Relationship Id="rId26" Type="http://schemas.openxmlformats.org/officeDocument/2006/relationships/tags" Target="../tags/tag62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image" Target="../media/image9.png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image" Target="../media/image8.png"/><Relationship Id="rId2" Type="http://schemas.openxmlformats.org/officeDocument/2006/relationships/image" Target="../media/image2.png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image" Target="../media/image7.png"/><Relationship Id="rId16" Type="http://schemas.openxmlformats.org/officeDocument/2006/relationships/tags" Target="../tags/tag55.xml"/><Relationship Id="rId15" Type="http://schemas.openxmlformats.org/officeDocument/2006/relationships/image" Target="../media/image6.png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image" Target="../media/image5.png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7.wmf"/><Relationship Id="rId4" Type="http://schemas.openxmlformats.org/officeDocument/2006/relationships/package" Target="../embeddings/Document4.docx"/><Relationship Id="rId3" Type="http://schemas.openxmlformats.org/officeDocument/2006/relationships/image" Target="../media/image16.wmf"/><Relationship Id="rId2" Type="http://schemas.openxmlformats.org/officeDocument/2006/relationships/oleObject" Target="../embeddings/Document3.doc"/><Relationship Id="rId1" Type="http://schemas.openxmlformats.org/officeDocument/2006/relationships/tags" Target="../tags/tag6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6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68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70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4.png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image" Target="../media/image3.png"/><Relationship Id="rId4" Type="http://schemas.openxmlformats.org/officeDocument/2006/relationships/tags" Target="../tags/tag72.xml"/><Relationship Id="rId34" Type="http://schemas.openxmlformats.org/officeDocument/2006/relationships/notesSlide" Target="../notesSlides/notesSlide11.xml"/><Relationship Id="rId33" Type="http://schemas.openxmlformats.org/officeDocument/2006/relationships/vmlDrawing" Target="../drawings/vmlDrawing7.v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90.xml"/><Relationship Id="rId30" Type="http://schemas.openxmlformats.org/officeDocument/2006/relationships/image" Target="../media/image11.png"/><Relationship Id="rId3" Type="http://schemas.openxmlformats.org/officeDocument/2006/relationships/tags" Target="../tags/tag71.xml"/><Relationship Id="rId29" Type="http://schemas.openxmlformats.org/officeDocument/2006/relationships/tags" Target="../tags/tag89.xml"/><Relationship Id="rId28" Type="http://schemas.openxmlformats.org/officeDocument/2006/relationships/tags" Target="../tags/tag88.xml"/><Relationship Id="rId27" Type="http://schemas.openxmlformats.org/officeDocument/2006/relationships/image" Target="../media/image10.png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image" Target="../media/image9.png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image" Target="../media/image8.png"/><Relationship Id="rId2" Type="http://schemas.openxmlformats.org/officeDocument/2006/relationships/image" Target="../media/image2.png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image" Target="../media/image7.png"/><Relationship Id="rId16" Type="http://schemas.openxmlformats.org/officeDocument/2006/relationships/tags" Target="../tags/tag80.xml"/><Relationship Id="rId15" Type="http://schemas.openxmlformats.org/officeDocument/2006/relationships/image" Target="../media/image6.png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image" Target="../media/image5.png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" y="2240582"/>
            <a:ext cx="9906000" cy="25202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endParaRPr lang="en-US" altLang="zh-CN" sz="4000" b="1" dirty="0">
              <a:latin typeface="+mj-ea"/>
              <a:ea typeface="+mj-ea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51508" y="4869145"/>
            <a:ext cx="8382000" cy="8915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400" b="1" kern="0" dirty="0">
              <a:ea typeface="黑体" panose="02010609060101010101" pitchFamily="2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kern="0" dirty="0" smtClean="0">
                <a:ea typeface="黑体" panose="02010609060101010101" pitchFamily="2" charset="-122"/>
              </a:rPr>
              <a:t>2024</a:t>
            </a:r>
            <a:r>
              <a:rPr lang="zh-CN" altLang="en-US" sz="2800" b="1" kern="0" dirty="0" smtClean="0">
                <a:ea typeface="黑体" panose="02010609060101010101" pitchFamily="2" charset="-122"/>
              </a:rPr>
              <a:t>年</a:t>
            </a:r>
            <a:r>
              <a:rPr lang="en-US" altLang="zh-CN" sz="2800" b="1" kern="0" dirty="0" smtClean="0">
                <a:ea typeface="黑体" panose="02010609060101010101" pitchFamily="2" charset="-122"/>
              </a:rPr>
              <a:t>2</a:t>
            </a:r>
            <a:r>
              <a:rPr lang="zh-CN" altLang="en-US" sz="2800" b="1" kern="0" dirty="0" smtClean="0">
                <a:ea typeface="黑体" panose="02010609060101010101" pitchFamily="2" charset="-122"/>
              </a:rPr>
              <a:t>月</a:t>
            </a:r>
            <a:endParaRPr lang="en-US" altLang="zh-CN" sz="2800" b="1" kern="0" dirty="0">
              <a:ea typeface="黑体" panose="0201060906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6515" y="1844675"/>
            <a:ext cx="971931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3600" b="1" dirty="0">
                <a:solidFill>
                  <a:prstClr val="black"/>
                </a:solidFill>
                <a:ea typeface="黑体" panose="02010609060101010101" pitchFamily="2" charset="-122"/>
                <a:sym typeface="+mn-ea"/>
              </a:rPr>
              <a:t>国网黑龙江电力-2022年基于数据业务图谱的信息系统数据提取逻辑工具设计</a:t>
            </a:r>
            <a:r>
              <a:rPr lang="zh-CN" altLang="en-US" sz="3600" b="1" dirty="0">
                <a:solidFill>
                  <a:prstClr val="black"/>
                </a:solidFill>
                <a:ea typeface="黑体" panose="02010609060101010101" pitchFamily="2" charset="-122"/>
                <a:sym typeface="+mn-ea"/>
              </a:rPr>
              <a:t>与开发项目</a:t>
            </a:r>
            <a:endParaRPr lang="en-US" altLang="zh-CN" sz="5400" b="1" dirty="0">
              <a:solidFill>
                <a:prstClr val="blac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0" algn="ctr"/>
            <a:r>
              <a:rPr lang="zh-CN" altLang="zh-CN" sz="5400" b="1" dirty="0">
                <a:solidFill>
                  <a:prstClr val="blac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需求与设计</a:t>
            </a:r>
            <a:r>
              <a:rPr lang="zh-CN" altLang="zh-CN" sz="5400" b="1" dirty="0">
                <a:solidFill>
                  <a:prstClr val="blac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评审</a:t>
            </a:r>
            <a:endParaRPr lang="zh-CN" altLang="zh-CN" sz="5400" b="1" dirty="0">
              <a:solidFill>
                <a:prstClr val="blac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5" name="Object 383"/>
          <p:cNvGraphicFramePr>
            <a:graphicFrameLocks noChangeAspect="1"/>
          </p:cNvGraphicFramePr>
          <p:nvPr/>
        </p:nvGraphicFramePr>
        <p:xfrm>
          <a:off x="272480" y="1844675"/>
          <a:ext cx="2027635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" imgW="3505200" imgH="5461000" progId="">
                  <p:embed/>
                </p:oleObj>
              </mc:Choice>
              <mc:Fallback>
                <p:oleObj name="" r:id="rId1" imgW="3505200" imgH="5461000" progId="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80" y="1844675"/>
                        <a:ext cx="2027635" cy="422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6" name="组合 1"/>
          <p:cNvGrpSpPr/>
          <p:nvPr>
            <p:custDataLst>
              <p:tags r:id="rId3"/>
            </p:custDataLst>
          </p:nvPr>
        </p:nvGrpSpPr>
        <p:grpSpPr bwMode="auto">
          <a:xfrm>
            <a:off x="3311566" y="1844824"/>
            <a:ext cx="6320235" cy="796925"/>
            <a:chOff x="0" y="0"/>
            <a:chExt cx="5834063" cy="798512"/>
          </a:xfrm>
        </p:grpSpPr>
        <p:grpSp>
          <p:nvGrpSpPr>
            <p:cNvPr id="49178" name="Group 10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82" name="Rectangle 8"/>
              <p:cNvPicPr>
                <a:picLocks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3" name="Text Box 1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4" y="24"/>
                <a:ext cx="499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FF0000"/>
                    </a:solidFill>
                  </a:rPr>
                  <a:t>一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.</a:t>
                </a:r>
                <a:endParaRPr lang="zh-CN" altLang="en-US" sz="1800" b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79" name="Group 13"/>
            <p:cNvGrpSpPr/>
            <p:nvPr/>
          </p:nvGrpSpPr>
          <p:grpSpPr bwMode="auto">
            <a:xfrm>
              <a:off x="822325" y="0"/>
              <a:ext cx="5011738" cy="736600"/>
              <a:chOff x="0" y="0"/>
              <a:chExt cx="3157" cy="464"/>
            </a:xfrm>
          </p:grpSpPr>
          <p:pic>
            <p:nvPicPr>
              <p:cNvPr id="49180" name="Text Box 13"/>
              <p:cNvPicPr>
                <a:picLocks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1" name="Text Box 15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4" y="24"/>
                <a:ext cx="3044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None/>
                </a:pPr>
                <a:r>
                  <a:rPr lang="zh-CN" altLang="en-US" sz="2000" dirty="0">
                    <a:solidFill>
                      <a:srgbClr val="FF0000"/>
                    </a:solidFill>
                  </a:rPr>
                  <a:t>项目概述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9159" name="组合 2"/>
          <p:cNvGrpSpPr/>
          <p:nvPr>
            <p:custDataLst>
              <p:tags r:id="rId10"/>
            </p:custDataLst>
          </p:nvPr>
        </p:nvGrpSpPr>
        <p:grpSpPr bwMode="auto">
          <a:xfrm>
            <a:off x="3311566" y="2708920"/>
            <a:ext cx="6321954" cy="798512"/>
            <a:chOff x="0" y="0"/>
            <a:chExt cx="5834063" cy="798512"/>
          </a:xfrm>
        </p:grpSpPr>
        <p:grpSp>
          <p:nvGrpSpPr>
            <p:cNvPr id="49160" name="Group 4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64" name="Rectangle 9"/>
              <p:cNvPicPr>
                <a:picLocks noChangeArrowheads="1"/>
              </p:cNvPicPr>
              <p:nvPr>
                <p:custDataLst>
                  <p:tags r:id="rId11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5" name="Text Box 6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Wingdings" panose="05000000000000000000" pitchFamily="2" charset="2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二</a:t>
                </a:r>
                <a:r>
                  <a:rPr lang="en-US" altLang="zh-CN" sz="1800" dirty="0">
                    <a:solidFill>
                      <a:srgbClr val="000000"/>
                    </a:solidFill>
                  </a:rPr>
                  <a:t>.</a:t>
                </a: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61" name="Group 7"/>
            <p:cNvGrpSpPr/>
            <p:nvPr/>
          </p:nvGrpSpPr>
          <p:grpSpPr bwMode="auto">
            <a:xfrm>
              <a:off x="822325" y="0"/>
              <a:ext cx="5011738" cy="738187"/>
              <a:chOff x="0" y="0"/>
              <a:chExt cx="3157" cy="465"/>
            </a:xfrm>
          </p:grpSpPr>
          <p:pic>
            <p:nvPicPr>
              <p:cNvPr id="49162" name="Text Box 10"/>
              <p:cNvPicPr>
                <a:picLocks noChangeArrowheads="1"/>
              </p:cNvPicPr>
              <p:nvPr>
                <p:custDataLst>
                  <p:tags r:id="rId14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3" name="Text Box 9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4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/>
                  <a:t>项目需求调研与</a:t>
                </a:r>
                <a:r>
                  <a:rPr lang="zh-CN" altLang="en-US" sz="2000" dirty="0"/>
                  <a:t>分析</a:t>
                </a:r>
                <a:endParaRPr lang="zh-CN" altLang="en-US" sz="2000" dirty="0"/>
              </a:p>
            </p:txBody>
          </p:sp>
        </p:grpSp>
      </p:grpSp>
      <p:sp>
        <p:nvSpPr>
          <p:cNvPr id="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9021" y="260350"/>
            <a:ext cx="8310033" cy="8651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zh-CN" altLang="en-US" dirty="0"/>
              <a:t>目录</a:t>
            </a:r>
            <a:endParaRPr lang="zh-CN" dirty="0"/>
          </a:p>
        </p:txBody>
      </p:sp>
      <p:pic>
        <p:nvPicPr>
          <p:cNvPr id="33" name="Picture 12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323" y="1933044"/>
            <a:ext cx="84179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组合 4"/>
          <p:cNvGrpSpPr/>
          <p:nvPr>
            <p:custDataLst>
              <p:tags r:id="rId18"/>
            </p:custDataLst>
          </p:nvPr>
        </p:nvGrpSpPr>
        <p:grpSpPr bwMode="auto">
          <a:xfrm>
            <a:off x="3383574" y="3592861"/>
            <a:ext cx="6320235" cy="798512"/>
            <a:chOff x="0" y="0"/>
            <a:chExt cx="5834063" cy="798513"/>
          </a:xfrm>
        </p:grpSpPr>
        <p:grpSp>
          <p:nvGrpSpPr>
            <p:cNvPr id="36" name="Group 16"/>
            <p:cNvGrpSpPr/>
            <p:nvPr/>
          </p:nvGrpSpPr>
          <p:grpSpPr bwMode="auto">
            <a:xfrm>
              <a:off x="0" y="0"/>
              <a:ext cx="920750" cy="798513"/>
              <a:chOff x="0" y="0"/>
              <a:chExt cx="580" cy="503"/>
            </a:xfrm>
          </p:grpSpPr>
          <p:pic>
            <p:nvPicPr>
              <p:cNvPr id="40" name="Rectangle 8"/>
              <p:cNvPicPr>
                <a:picLocks noChangeArrowheads="1"/>
              </p:cNvPicPr>
              <p:nvPr>
                <p:custDataLst>
                  <p:tags r:id="rId19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1" name="Text Box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" y="23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三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7" name="Group 19"/>
            <p:cNvGrpSpPr/>
            <p:nvPr/>
          </p:nvGrpSpPr>
          <p:grpSpPr bwMode="auto">
            <a:xfrm>
              <a:off x="822325" y="0"/>
              <a:ext cx="5011738" cy="738188"/>
              <a:chOff x="0" y="0"/>
              <a:chExt cx="3157" cy="465"/>
            </a:xfrm>
          </p:grpSpPr>
          <p:pic>
            <p:nvPicPr>
              <p:cNvPr id="38" name="Text Box 13"/>
              <p:cNvPicPr>
                <a:picLocks noChangeArrowheads="1"/>
              </p:cNvPicPr>
              <p:nvPr>
                <p:custDataLst>
                  <p:tags r:id="rId22"/>
                </p:custDataLst>
              </p:nvPr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39" name="Text Box 21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4" y="23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项目设计及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展示</a:t>
                </a:r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42" name="组合 5"/>
          <p:cNvGrpSpPr/>
          <p:nvPr>
            <p:custDataLst>
              <p:tags r:id="rId25"/>
            </p:custDataLst>
          </p:nvPr>
        </p:nvGrpSpPr>
        <p:grpSpPr bwMode="auto">
          <a:xfrm>
            <a:off x="3383574" y="4516786"/>
            <a:ext cx="6313356" cy="798512"/>
            <a:chOff x="0" y="0"/>
            <a:chExt cx="5827713" cy="798513"/>
          </a:xfrm>
        </p:grpSpPr>
        <p:grpSp>
          <p:nvGrpSpPr>
            <p:cNvPr id="43" name="Group 22"/>
            <p:cNvGrpSpPr/>
            <p:nvPr/>
          </p:nvGrpSpPr>
          <p:grpSpPr bwMode="auto">
            <a:xfrm>
              <a:off x="0" y="0"/>
              <a:ext cx="914400" cy="798513"/>
              <a:chOff x="0" y="0"/>
              <a:chExt cx="576" cy="503"/>
            </a:xfrm>
          </p:grpSpPr>
          <p:pic>
            <p:nvPicPr>
              <p:cNvPr id="47" name="Rectangle 9"/>
              <p:cNvPicPr>
                <a:picLocks noChangeArrowheads="1"/>
              </p:cNvPicPr>
              <p:nvPr>
                <p:custDataLst>
                  <p:tags r:id="rId26"/>
                </p:custDataLst>
              </p:nvPr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76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8" name="Text Box 24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1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四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" name="Group 25"/>
            <p:cNvGrpSpPr/>
            <p:nvPr/>
          </p:nvGrpSpPr>
          <p:grpSpPr bwMode="auto">
            <a:xfrm>
              <a:off x="815975" y="0"/>
              <a:ext cx="5011738" cy="738188"/>
              <a:chOff x="0" y="0"/>
              <a:chExt cx="3157" cy="465"/>
            </a:xfrm>
          </p:grpSpPr>
          <p:pic>
            <p:nvPicPr>
              <p:cNvPr id="45" name="Text Box 10"/>
              <p:cNvPicPr>
                <a:picLocks noChangeArrowheads="1"/>
              </p:cNvPicPr>
              <p:nvPr>
                <p:custDataLst>
                  <p:tags r:id="rId29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6" name="Text Box 27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5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项目下一步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工作</a:t>
                </a:r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8076" y="0"/>
            <a:ext cx="7527925" cy="1341438"/>
          </a:xfrm>
        </p:spPr>
        <p:txBody>
          <a:bodyPr/>
          <a:lstStyle/>
          <a:p>
            <a:r>
              <a:rPr lang="zh-CN" altLang="en-US" dirty="0"/>
              <a:t>项目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47" name="圆角矩形 63"/>
          <p:cNvSpPr>
            <a:spLocks noChangeArrowheads="1"/>
          </p:cNvSpPr>
          <p:nvPr/>
        </p:nvSpPr>
        <p:spPr bwMode="auto">
          <a:xfrm>
            <a:off x="582295" y="1489075"/>
            <a:ext cx="9044940" cy="5208905"/>
          </a:xfrm>
          <a:prstGeom prst="roundRect">
            <a:avLst>
              <a:gd name="adj" fmla="val 3079"/>
            </a:avLst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项目背景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  </a:t>
            </a:r>
            <a:r>
              <a:rPr lang="zh-CN" altLang="en-US" sz="1600" dirty="0">
                <a:latin typeface="+mn-ea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 </a:t>
            </a:r>
            <a:endParaRPr lang="zh-CN" altLang="en-US" sz="1600" dirty="0">
              <a:solidFill>
                <a:srgbClr val="FF0000"/>
              </a:solidFill>
              <a:latin typeface="+mj-ea"/>
              <a:ea typeface="+mj-ea"/>
              <a:cs typeface="+mj-ea"/>
            </a:endParaRPr>
          </a:p>
          <a:p>
            <a:pPr mar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国家电网公司有相关工作要求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《国家电网有限公司关于印发2022年数字化工作要点的通知》中要求开展业务与数据映射关系、数据表间关联关系等数据业务化信息梳理沉淀，围绕电网生产和经营管理两条主线构建数据业务图谱，支撑从业务视角实现数据快速查询和获取，降低用户找数用数的门槛。</a:t>
            </a:r>
            <a:endParaRPr lang="zh-CN" altLang="en-US" sz="1400" dirty="0">
              <a:solidFill>
                <a:schemeClr val="tx1"/>
              </a:solidFill>
              <a:latin typeface="+mj-ea"/>
              <a:ea typeface="+mj-ea"/>
              <a:cs typeface="+mj-ea"/>
              <a:sym typeface="微软雅黑" panose="020B0503020204020204" charset="-122"/>
            </a:endParaRPr>
          </a:p>
          <a:p>
            <a:pPr mar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国网黑龙江省电力有限公司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积极响应</a:t>
            </a: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上述工作要求</a:t>
            </a:r>
            <a:r>
              <a:rPr lang="zh-CN" altLang="en-US" sz="16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：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微软雅黑" panose="020B0503020204020204" charset="-122"/>
              </a:rPr>
              <a:t>基于数据中台，选取供电服务指挥、营销业务应用、用电信息采集、PMS、生产GIS五套业务系统，开展业务与数据映射关系、数据表间关联关系等数据业务化信息梳理、数据关联逻辑关系梳理、跨业务数据关联关系的梳理及提取形成数据提取逻辑的业务图谱，支撑从业务角度根据数据关联关系创建数据云图，展示数据与业务关系，最终形成简单友好的人机操作界面的工具，实现数据提取逻辑、数据关联关系的快速查询和获取，</a:t>
            </a:r>
            <a:r>
              <a:rPr lang="zh-CN" altLang="en-US" sz="1400" dirty="0">
                <a:solidFill>
                  <a:schemeClr val="tx1"/>
                </a:solidFill>
                <a:latin typeface="+mn-ea"/>
                <a:ea typeface="+mj-ea"/>
                <a:cs typeface="+mj-ea"/>
                <a:sym typeface="微软雅黑" panose="020B0503020204020204" charset="-122"/>
              </a:rPr>
              <a:t>降低用户找数用数门槛，大幅提高数据中台的使用率。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  <a:cs typeface="+mj-ea"/>
              <a:sym typeface="微软雅黑" panose="020B0503020204020204" charset="-122"/>
            </a:endParaRPr>
          </a:p>
          <a:p>
            <a:pPr marL="457200" indent="-45720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+mn-ea"/>
                <a:sym typeface="微软雅黑" panose="020B0503020204020204" charset="-122"/>
              </a:rPr>
              <a:t>项目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sym typeface="微软雅黑" panose="020B0503020204020204" charset="-122"/>
              </a:rPr>
              <a:t>构成</a:t>
            </a:r>
            <a:endParaRPr lang="zh-CN" altLang="en-US" sz="2000" dirty="0">
              <a:latin typeface="+mn-ea"/>
              <a:sym typeface="微软雅黑" panose="020B0503020204020204" charset="-122"/>
            </a:endParaRPr>
          </a:p>
          <a:p>
            <a:pPr mar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国网黑龙江电力-2022年基于数据业务图谱的信息系统数据提取逻辑工具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由三个项目组成：设计开发项目、数据工程项目和实施项目。设计开发项目主要为应用功能开发，形成功能场景及后台程序；数据工程项目主要是开展数据表间关联关系等数据业务化信息梳理、数据关联逻辑关系梳理、跨业务数据关联关系的梳理及上述五大</a:t>
            </a:r>
            <a:r>
              <a:rPr lang="zh-CN" altLang="en-US" sz="1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业务系统数据提取逻辑脚本的可用性治理；实施项目是完成程序部署及系统初始化工作。</a:t>
            </a:r>
            <a:endParaRPr lang="en-US" sz="1400" b="1" dirty="0">
              <a:solidFill>
                <a:srgbClr val="000000"/>
              </a:solidFill>
              <a:latin typeface="+mn-ea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5" name="Object 383"/>
          <p:cNvGraphicFramePr>
            <a:graphicFrameLocks noChangeAspect="1"/>
          </p:cNvGraphicFramePr>
          <p:nvPr/>
        </p:nvGraphicFramePr>
        <p:xfrm>
          <a:off x="272480" y="1844675"/>
          <a:ext cx="2027635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" imgW="3505200" imgH="5461000" progId="">
                  <p:embed/>
                </p:oleObj>
              </mc:Choice>
              <mc:Fallback>
                <p:oleObj name="" r:id="rId1" imgW="3505200" imgH="5461000" progId="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80" y="1844675"/>
                        <a:ext cx="2027635" cy="422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6" name="组合 1"/>
          <p:cNvGrpSpPr/>
          <p:nvPr>
            <p:custDataLst>
              <p:tags r:id="rId3"/>
            </p:custDataLst>
          </p:nvPr>
        </p:nvGrpSpPr>
        <p:grpSpPr bwMode="auto">
          <a:xfrm>
            <a:off x="3311566" y="1844824"/>
            <a:ext cx="6320235" cy="796925"/>
            <a:chOff x="0" y="0"/>
            <a:chExt cx="5834063" cy="798512"/>
          </a:xfrm>
        </p:grpSpPr>
        <p:grpSp>
          <p:nvGrpSpPr>
            <p:cNvPr id="49178" name="Group 10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82" name="Rectangle 8"/>
              <p:cNvPicPr>
                <a:picLocks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3" name="Text Box 1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4" y="24"/>
                <a:ext cx="499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一.</a:t>
                </a:r>
                <a:endParaRPr lang="zh-CN" altLang="en-US" sz="1800" b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79" name="Group 13"/>
            <p:cNvGrpSpPr/>
            <p:nvPr/>
          </p:nvGrpSpPr>
          <p:grpSpPr bwMode="auto">
            <a:xfrm>
              <a:off x="822325" y="0"/>
              <a:ext cx="5011738" cy="736600"/>
              <a:chOff x="0" y="0"/>
              <a:chExt cx="3157" cy="464"/>
            </a:xfrm>
          </p:grpSpPr>
          <p:pic>
            <p:nvPicPr>
              <p:cNvPr id="49180" name="Text Box 13"/>
              <p:cNvPicPr>
                <a:picLocks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1" name="Text Box 15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4" y="24"/>
                <a:ext cx="3044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None/>
                </a:pPr>
                <a:r>
                  <a:rPr lang="zh-CN" altLang="en-US" sz="2000" dirty="0"/>
                  <a:t>项目概述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9159" name="组合 2"/>
          <p:cNvGrpSpPr/>
          <p:nvPr>
            <p:custDataLst>
              <p:tags r:id="rId10"/>
            </p:custDataLst>
          </p:nvPr>
        </p:nvGrpSpPr>
        <p:grpSpPr bwMode="auto">
          <a:xfrm>
            <a:off x="3311566" y="2708920"/>
            <a:ext cx="6321954" cy="798512"/>
            <a:chOff x="0" y="0"/>
            <a:chExt cx="5834063" cy="798512"/>
          </a:xfrm>
        </p:grpSpPr>
        <p:grpSp>
          <p:nvGrpSpPr>
            <p:cNvPr id="49160" name="Group 4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64" name="Rectangle 9"/>
              <p:cNvPicPr>
                <a:picLocks noChangeArrowheads="1"/>
              </p:cNvPicPr>
              <p:nvPr>
                <p:custDataLst>
                  <p:tags r:id="rId11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5" name="Text Box 6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Wingdings" panose="05000000000000000000" pitchFamily="2" charset="2"/>
                  <a:buNone/>
                </a:pPr>
                <a:r>
                  <a:rPr lang="zh-CN" altLang="en-US" sz="2400">
                    <a:solidFill>
                      <a:srgbClr val="FF3300"/>
                    </a:solidFill>
                  </a:rPr>
                  <a:t>二</a:t>
                </a:r>
                <a:r>
                  <a:rPr lang="en-US" altLang="zh-CN" sz="1800" dirty="0">
                    <a:solidFill>
                      <a:srgbClr val="FF3300"/>
                    </a:solidFill>
                  </a:rPr>
                  <a:t>.</a:t>
                </a:r>
                <a:endParaRPr lang="en-US" altLang="zh-CN" sz="1800" b="0" dirty="0">
                  <a:solidFill>
                    <a:srgbClr val="FF33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61" name="Group 7"/>
            <p:cNvGrpSpPr/>
            <p:nvPr/>
          </p:nvGrpSpPr>
          <p:grpSpPr bwMode="auto">
            <a:xfrm>
              <a:off x="822325" y="0"/>
              <a:ext cx="5011738" cy="738187"/>
              <a:chOff x="0" y="0"/>
              <a:chExt cx="3157" cy="465"/>
            </a:xfrm>
          </p:grpSpPr>
          <p:pic>
            <p:nvPicPr>
              <p:cNvPr id="49162" name="Text Box 10"/>
              <p:cNvPicPr>
                <a:picLocks noChangeArrowheads="1"/>
              </p:cNvPicPr>
              <p:nvPr>
                <p:custDataLst>
                  <p:tags r:id="rId14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3" name="Text Box 9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4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FF3300"/>
                    </a:solidFill>
                  </a:rPr>
                  <a:t>项目需求调研与</a:t>
                </a:r>
                <a:r>
                  <a:rPr lang="zh-CN" altLang="en-US" sz="2000" dirty="0">
                    <a:solidFill>
                      <a:srgbClr val="FF3300"/>
                    </a:solidFill>
                  </a:rPr>
                  <a:t>分析</a:t>
                </a:r>
                <a:endParaRPr lang="zh-CN" altLang="en-US" sz="2000" dirty="0">
                  <a:solidFill>
                    <a:srgbClr val="FF3300"/>
                  </a:solidFill>
                </a:endParaRPr>
              </a:p>
            </p:txBody>
          </p:sp>
        </p:grpSp>
      </p:grpSp>
      <p:sp>
        <p:nvSpPr>
          <p:cNvPr id="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9021" y="260350"/>
            <a:ext cx="8310033" cy="8651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zh-CN" altLang="en-US" dirty="0"/>
              <a:t>目录</a:t>
            </a:r>
            <a:endParaRPr lang="zh-CN" dirty="0"/>
          </a:p>
        </p:txBody>
      </p:sp>
      <p:pic>
        <p:nvPicPr>
          <p:cNvPr id="33" name="Picture 12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928" y="2780769"/>
            <a:ext cx="84179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组合 4"/>
          <p:cNvGrpSpPr/>
          <p:nvPr>
            <p:custDataLst>
              <p:tags r:id="rId18"/>
            </p:custDataLst>
          </p:nvPr>
        </p:nvGrpSpPr>
        <p:grpSpPr bwMode="auto">
          <a:xfrm>
            <a:off x="3383574" y="3592861"/>
            <a:ext cx="6320235" cy="798512"/>
            <a:chOff x="0" y="0"/>
            <a:chExt cx="5834063" cy="798513"/>
          </a:xfrm>
        </p:grpSpPr>
        <p:grpSp>
          <p:nvGrpSpPr>
            <p:cNvPr id="36" name="Group 16"/>
            <p:cNvGrpSpPr/>
            <p:nvPr/>
          </p:nvGrpSpPr>
          <p:grpSpPr bwMode="auto">
            <a:xfrm>
              <a:off x="0" y="0"/>
              <a:ext cx="920750" cy="798513"/>
              <a:chOff x="0" y="0"/>
              <a:chExt cx="580" cy="503"/>
            </a:xfrm>
          </p:grpSpPr>
          <p:pic>
            <p:nvPicPr>
              <p:cNvPr id="40" name="Rectangle 8"/>
              <p:cNvPicPr>
                <a:picLocks noChangeArrowheads="1"/>
              </p:cNvPicPr>
              <p:nvPr>
                <p:custDataLst>
                  <p:tags r:id="rId19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1" name="Text Box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" y="23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三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7" name="Group 19"/>
            <p:cNvGrpSpPr/>
            <p:nvPr/>
          </p:nvGrpSpPr>
          <p:grpSpPr bwMode="auto">
            <a:xfrm>
              <a:off x="822325" y="0"/>
              <a:ext cx="5011738" cy="738188"/>
              <a:chOff x="0" y="0"/>
              <a:chExt cx="3157" cy="465"/>
            </a:xfrm>
          </p:grpSpPr>
          <p:pic>
            <p:nvPicPr>
              <p:cNvPr id="38" name="Text Box 13"/>
              <p:cNvPicPr>
                <a:picLocks noChangeArrowheads="1"/>
              </p:cNvPicPr>
              <p:nvPr>
                <p:custDataLst>
                  <p:tags r:id="rId22"/>
                </p:custDataLst>
              </p:nvPr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39" name="Text Box 21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4" y="23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项目设计及</a:t>
                </a:r>
                <a:r>
                  <a:rPr lang="zh-CN" altLang="en-US" sz="2000" dirty="0">
                    <a:solidFill>
                      <a:srgbClr val="000000"/>
                    </a:solidFill>
                  </a:rPr>
                  <a:t>展示</a:t>
                </a:r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42" name="组合 5"/>
          <p:cNvGrpSpPr/>
          <p:nvPr>
            <p:custDataLst>
              <p:tags r:id="rId25"/>
            </p:custDataLst>
          </p:nvPr>
        </p:nvGrpSpPr>
        <p:grpSpPr bwMode="auto">
          <a:xfrm>
            <a:off x="3383574" y="4516786"/>
            <a:ext cx="6313356" cy="798512"/>
            <a:chOff x="0" y="0"/>
            <a:chExt cx="5827713" cy="798513"/>
          </a:xfrm>
        </p:grpSpPr>
        <p:grpSp>
          <p:nvGrpSpPr>
            <p:cNvPr id="43" name="Group 22"/>
            <p:cNvGrpSpPr/>
            <p:nvPr/>
          </p:nvGrpSpPr>
          <p:grpSpPr bwMode="auto">
            <a:xfrm>
              <a:off x="0" y="0"/>
              <a:ext cx="914400" cy="798513"/>
              <a:chOff x="0" y="0"/>
              <a:chExt cx="576" cy="503"/>
            </a:xfrm>
          </p:grpSpPr>
          <p:pic>
            <p:nvPicPr>
              <p:cNvPr id="47" name="Rectangle 9"/>
              <p:cNvPicPr>
                <a:picLocks noChangeArrowheads="1"/>
              </p:cNvPicPr>
              <p:nvPr>
                <p:custDataLst>
                  <p:tags r:id="rId26"/>
                </p:custDataLst>
              </p:nvPr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76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8" name="Text Box 24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1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四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" name="Group 25"/>
            <p:cNvGrpSpPr/>
            <p:nvPr/>
          </p:nvGrpSpPr>
          <p:grpSpPr bwMode="auto">
            <a:xfrm>
              <a:off x="815975" y="0"/>
              <a:ext cx="5011738" cy="738188"/>
              <a:chOff x="0" y="0"/>
              <a:chExt cx="3157" cy="465"/>
            </a:xfrm>
          </p:grpSpPr>
          <p:pic>
            <p:nvPicPr>
              <p:cNvPr id="45" name="Text Box 10"/>
              <p:cNvPicPr>
                <a:picLocks noChangeArrowheads="1"/>
              </p:cNvPicPr>
              <p:nvPr>
                <p:custDataLst>
                  <p:tags r:id="rId29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6" name="Text Box 27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5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项目</a:t>
                </a:r>
                <a:r>
                  <a:rPr lang="zh-CN" altLang="en-US" sz="2000" dirty="0">
                    <a:solidFill>
                      <a:srgbClr val="000000"/>
                    </a:solidFill>
                    <a:sym typeface="+mn-ea"/>
                  </a:rPr>
                  <a:t>下一步工作</a:t>
                </a:r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B4C2FA-EA7D-4C5A-B03D-173F2EF26023}" type="slidenum">
              <a:rPr lang="zh-CN" altLang="en-US" sz="140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b="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218" name="TextBox 11"/>
          <p:cNvSpPr>
            <a:spLocks noChangeArrowheads="1"/>
          </p:cNvSpPr>
          <p:nvPr/>
        </p:nvSpPr>
        <p:spPr bwMode="auto">
          <a:xfrm>
            <a:off x="4737102" y="620715"/>
            <a:ext cx="4608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r" eaLnBrk="0" hangingPunct="0"/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项目需求（</a:t>
            </a:r>
            <a:r>
              <a:rPr lang="en-US" altLang="zh-CN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1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）</a:t>
            </a:r>
            <a:endParaRPr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86435" y="2125345"/>
            <a:ext cx="2548890" cy="3717290"/>
          </a:xfrm>
          <a:prstGeom prst="roundRect">
            <a:avLst>
              <a:gd name="adj" fmla="val 12557"/>
            </a:avLst>
          </a:prstGeom>
          <a:gradFill>
            <a:gsLst>
              <a:gs pos="0">
                <a:schemeClr val="bg1">
                  <a:lumMod val="80000"/>
                </a:schemeClr>
              </a:gs>
              <a:gs pos="100000">
                <a:schemeClr val="bg1">
                  <a:lumMod val="97000"/>
                </a:schemeClr>
              </a:gs>
            </a:gsLst>
            <a:lin ang="2700000" scaled="1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444500" dist="1778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579412" y="1733419"/>
            <a:ext cx="762482" cy="762207"/>
            <a:chOff x="4064714" y="5308921"/>
            <a:chExt cx="1016511" cy="1016511"/>
          </a:xfrm>
        </p:grpSpPr>
        <p:sp>
          <p:nvSpPr>
            <p:cNvPr id="42" name="椭圆 41"/>
            <p:cNvSpPr/>
            <p:nvPr/>
          </p:nvSpPr>
          <p:spPr>
            <a:xfrm>
              <a:off x="4064714" y="5308921"/>
              <a:ext cx="1016511" cy="1016511"/>
            </a:xfrm>
            <a:prstGeom prst="ellipse">
              <a:avLst/>
            </a:prstGeom>
            <a:gradFill>
              <a:gsLst>
                <a:gs pos="0">
                  <a:schemeClr val="bg1">
                    <a:lumMod val="80000"/>
                  </a:schemeClr>
                </a:gs>
                <a:gs pos="100000">
                  <a:schemeClr val="bg1">
                    <a:lumMod val="97000"/>
                  </a:schemeClr>
                </a:gs>
              </a:gsLst>
              <a:lin ang="27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4216473" y="5480157"/>
              <a:ext cx="711301" cy="71130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5875"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63500" dist="254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4" name="文本框 22"/>
            <p:cNvSpPr txBox="1"/>
            <p:nvPr/>
          </p:nvSpPr>
          <p:spPr>
            <a:xfrm>
              <a:off x="4331895" y="5651541"/>
              <a:ext cx="482148" cy="367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prstClr val="white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12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41680" y="2561590"/>
            <a:ext cx="2524125" cy="3943349"/>
            <a:chOff x="4144085" y="2646001"/>
            <a:chExt cx="1267601" cy="3580020"/>
          </a:xfrm>
        </p:grpSpPr>
        <p:sp>
          <p:nvSpPr>
            <p:cNvPr id="80" name="文本框 59"/>
            <p:cNvSpPr txBox="1"/>
            <p:nvPr/>
          </p:nvSpPr>
          <p:spPr>
            <a:xfrm>
              <a:off x="4144085" y="2646001"/>
              <a:ext cx="1180221" cy="3061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</a:pPr>
              <a:r>
                <a:rPr lang="zh-CN" altLang="en-US" sz="1600" b="1" dirty="0">
                  <a:latin typeface="时尚中黑简体" panose="01010104010101010101" pitchFamily="2" charset="-122"/>
                  <a:ea typeface="时尚中黑简体" panose="01010104010101010101" pitchFamily="2" charset="-122"/>
                  <a:sym typeface="微软雅黑" panose="020B0503020204020204" charset="-122"/>
                </a:rPr>
                <a:t>数据资源关系智能识别</a:t>
              </a:r>
              <a:endParaRPr lang="zh-CN" altLang="en-US" sz="1600" b="1" dirty="0"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81" name="文本框 149"/>
            <p:cNvSpPr txBox="1"/>
            <p:nvPr/>
          </p:nvSpPr>
          <p:spPr>
            <a:xfrm>
              <a:off x="4144085" y="2900234"/>
              <a:ext cx="1267601" cy="332578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借助智能算法解决数据资源关系智能识别问题，提供基于</a:t>
              </a:r>
              <a:r>
                <a:rPr lang="en-US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SQL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脚本、指标计算逻辑、宽表构建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过程的源表与目标表</a:t>
              </a:r>
              <a:r>
                <a:rPr lang="zh-CN" altLang="en-US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、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源字段与目标字段映射关系识别和管理，实现基于数据特征的数据表之间主外键关系自动发现、关联关系自动发现算法研究。</a:t>
              </a:r>
              <a:endParaRPr lang="zh-CN" altLang="zh-CN" sz="1400" kern="1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圆角矩形 7"/>
          <p:cNvSpPr/>
          <p:nvPr/>
        </p:nvSpPr>
        <p:spPr>
          <a:xfrm>
            <a:off x="6737985" y="2155825"/>
            <a:ext cx="2642235" cy="3660140"/>
          </a:xfrm>
          <a:prstGeom prst="roundRect">
            <a:avLst>
              <a:gd name="adj" fmla="val 12557"/>
            </a:avLst>
          </a:prstGeom>
          <a:gradFill>
            <a:gsLst>
              <a:gs pos="0">
                <a:schemeClr val="bg1">
                  <a:lumMod val="80000"/>
                </a:schemeClr>
              </a:gs>
              <a:gs pos="100000">
                <a:schemeClr val="bg1">
                  <a:lumMod val="97000"/>
                </a:schemeClr>
              </a:gs>
            </a:gsLst>
            <a:lin ang="2700000" scaled="1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444500" dist="1778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prstClr val="white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585322" y="1751409"/>
            <a:ext cx="762482" cy="762207"/>
            <a:chOff x="2135898" y="1485578"/>
            <a:chExt cx="1016511" cy="1016511"/>
          </a:xfrm>
        </p:grpSpPr>
        <p:sp>
          <p:nvSpPr>
            <p:cNvPr id="38" name="椭圆 37"/>
            <p:cNvSpPr/>
            <p:nvPr/>
          </p:nvSpPr>
          <p:spPr>
            <a:xfrm>
              <a:off x="2135898" y="1485578"/>
              <a:ext cx="1016511" cy="1016511"/>
            </a:xfrm>
            <a:prstGeom prst="ellipse">
              <a:avLst/>
            </a:prstGeom>
            <a:gradFill>
              <a:gsLst>
                <a:gs pos="0">
                  <a:schemeClr val="bg1">
                    <a:lumMod val="80000"/>
                  </a:schemeClr>
                </a:gs>
                <a:gs pos="100000">
                  <a:schemeClr val="bg1">
                    <a:lumMod val="97000"/>
                  </a:schemeClr>
                </a:gs>
              </a:gsLst>
              <a:lin ang="27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2288503" y="1638183"/>
              <a:ext cx="711301" cy="71130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5875"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63500" dist="254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0" name="文本框 17"/>
            <p:cNvSpPr txBox="1"/>
            <p:nvPr/>
          </p:nvSpPr>
          <p:spPr>
            <a:xfrm>
              <a:off x="2288504" y="1803865"/>
              <a:ext cx="711301" cy="367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prstClr val="white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12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6850470" y="2562073"/>
            <a:ext cx="2432050" cy="2953384"/>
            <a:chOff x="3787051" y="2363287"/>
            <a:chExt cx="2390594" cy="2120687"/>
          </a:xfrm>
        </p:grpSpPr>
        <p:sp>
          <p:nvSpPr>
            <p:cNvPr id="91" name="文本框 59"/>
            <p:cNvSpPr txBox="1"/>
            <p:nvPr/>
          </p:nvSpPr>
          <p:spPr>
            <a:xfrm>
              <a:off x="3815763" y="2363287"/>
              <a:ext cx="2301337" cy="242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</a:pPr>
              <a:r>
                <a:rPr lang="zh-CN" altLang="en-US" sz="1600" b="1" dirty="0">
                  <a:latin typeface="时尚中黑简体" panose="01010104010101010101" pitchFamily="2" charset="-122"/>
                  <a:ea typeface="时尚中黑简体" panose="01010104010101010101" pitchFamily="2" charset="-122"/>
                  <a:sym typeface="微软雅黑" panose="020B0503020204020204" charset="-122"/>
                </a:rPr>
                <a:t>支持数据资源关系云图</a:t>
              </a:r>
              <a:endParaRPr lang="zh-CN" altLang="en-US" sz="1600" b="1" dirty="0"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92" name="文本框 149"/>
            <p:cNvSpPr txBox="1"/>
            <p:nvPr/>
          </p:nvSpPr>
          <p:spPr>
            <a:xfrm>
              <a:off x="3787051" y="2562087"/>
              <a:ext cx="2390594" cy="1921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利用图谱结构展示数据资源关系，并可智能的进行云图配置、云图方案管理及云图展示，通过技术手段降低用户对数据资源关系的认知门槛，通过可视化的方式直观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的展示跨业务跨系统间的数据资源关系。</a:t>
              </a:r>
              <a:endParaRPr lang="zh-CN" altLang="zh-CN" sz="1400" kern="1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3588385" y="2125345"/>
            <a:ext cx="2654300" cy="3690620"/>
          </a:xfrm>
          <a:prstGeom prst="roundRect">
            <a:avLst>
              <a:gd name="adj" fmla="val 12557"/>
            </a:avLst>
          </a:prstGeom>
          <a:gradFill>
            <a:gsLst>
              <a:gs pos="0">
                <a:schemeClr val="bg1">
                  <a:lumMod val="80000"/>
                </a:schemeClr>
              </a:gs>
              <a:gs pos="100000">
                <a:schemeClr val="bg1">
                  <a:lumMod val="97000"/>
                </a:schemeClr>
              </a:gs>
            </a:gsLst>
            <a:lin ang="2700000" scaled="1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444500" dist="1778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647772" y="1743096"/>
            <a:ext cx="762482" cy="762207"/>
            <a:chOff x="6699927" y="981522"/>
            <a:chExt cx="1016511" cy="1016511"/>
          </a:xfrm>
        </p:grpSpPr>
        <p:sp>
          <p:nvSpPr>
            <p:cNvPr id="46" name="椭圆 45"/>
            <p:cNvSpPr/>
            <p:nvPr/>
          </p:nvSpPr>
          <p:spPr>
            <a:xfrm>
              <a:off x="6699927" y="981522"/>
              <a:ext cx="1016511" cy="1016511"/>
            </a:xfrm>
            <a:prstGeom prst="ellipse">
              <a:avLst/>
            </a:prstGeom>
            <a:gradFill>
              <a:gsLst>
                <a:gs pos="0">
                  <a:schemeClr val="bg1">
                    <a:lumMod val="80000"/>
                  </a:schemeClr>
                </a:gs>
                <a:gs pos="100000">
                  <a:schemeClr val="bg1">
                    <a:lumMod val="97000"/>
                  </a:schemeClr>
                </a:gs>
              </a:gsLst>
              <a:lin ang="27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6852532" y="1145215"/>
              <a:ext cx="711301" cy="71130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5875"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63500" dist="254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8" name="文本框 23"/>
            <p:cNvSpPr txBox="1"/>
            <p:nvPr/>
          </p:nvSpPr>
          <p:spPr>
            <a:xfrm>
              <a:off x="6937162" y="1295081"/>
              <a:ext cx="512095" cy="367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prstClr val="white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12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3571481" y="2561849"/>
            <a:ext cx="2753995" cy="3253739"/>
            <a:chOff x="4488823" y="2322607"/>
            <a:chExt cx="2427647" cy="594626"/>
          </a:xfrm>
        </p:grpSpPr>
        <p:sp>
          <p:nvSpPr>
            <p:cNvPr id="94" name="文本框 59"/>
            <p:cNvSpPr txBox="1"/>
            <p:nvPr/>
          </p:nvSpPr>
          <p:spPr>
            <a:xfrm>
              <a:off x="4642195" y="2322607"/>
              <a:ext cx="2153928" cy="6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</a:pPr>
              <a:r>
                <a:rPr lang="zh-CN" altLang="en-US" sz="1600" b="1" dirty="0">
                  <a:latin typeface="时尚中黑简体" panose="01010104010101010101" pitchFamily="2" charset="-122"/>
                  <a:ea typeface="时尚中黑简体" panose="01010104010101010101" pitchFamily="2" charset="-122"/>
                  <a:sym typeface="微软雅黑" panose="020B0503020204020204" charset="-122"/>
                </a:rPr>
                <a:t>创建数据资源关系知识库</a:t>
              </a:r>
              <a:endParaRPr lang="zh-CN" altLang="en-US" sz="1600" b="1" dirty="0"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95" name="文本框 149"/>
            <p:cNvSpPr txBox="1"/>
            <p:nvPr/>
          </p:nvSpPr>
          <p:spPr>
            <a:xfrm>
              <a:off x="4488823" y="2369026"/>
              <a:ext cx="2427647" cy="548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数据资源关系知识库包括专有词库、概念词库、关系词库、模型管理、文本解析、知识融合及实例化任务管理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等，对业务概念、关系和属性进行统一管理，能够对半结构化、非结构化数据进行解析，对异构数据整合、消歧，并根据版本及分类对知识库进行维护管理。</a:t>
              </a:r>
              <a:endParaRPr lang="zh-CN" altLang="zh-CN" sz="1400" kern="1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B4C2FA-EA7D-4C5A-B03D-173F2EF26023}" type="slidenum">
              <a:rPr lang="zh-CN" altLang="en-US" sz="1400" smtClean="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218" name="TextBox 11"/>
          <p:cNvSpPr>
            <a:spLocks noChangeArrowheads="1"/>
          </p:cNvSpPr>
          <p:nvPr/>
        </p:nvSpPr>
        <p:spPr bwMode="auto">
          <a:xfrm>
            <a:off x="4737102" y="620715"/>
            <a:ext cx="4608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algn="r" eaLnBrk="0" hangingPunct="0"/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项目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需求（</a:t>
            </a:r>
            <a:r>
              <a:rPr lang="en-US" altLang="zh-CN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2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微软雅黑" panose="020B0503020204020204" charset="-122"/>
              </a:rPr>
              <a:t>）</a:t>
            </a:r>
            <a:endParaRPr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86435" y="2125345"/>
            <a:ext cx="2548890" cy="3432175"/>
          </a:xfrm>
          <a:prstGeom prst="roundRect">
            <a:avLst>
              <a:gd name="adj" fmla="val 12557"/>
            </a:avLst>
          </a:prstGeom>
          <a:gradFill>
            <a:gsLst>
              <a:gs pos="0">
                <a:schemeClr val="bg1">
                  <a:lumMod val="80000"/>
                </a:schemeClr>
              </a:gs>
              <a:gs pos="100000">
                <a:schemeClr val="bg1">
                  <a:lumMod val="97000"/>
                </a:schemeClr>
              </a:gs>
            </a:gsLst>
            <a:lin ang="2700000" scaled="1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444500" dist="1778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579412" y="1733418"/>
            <a:ext cx="762482" cy="762207"/>
            <a:chOff x="4064714" y="5308921"/>
            <a:chExt cx="1016511" cy="1016511"/>
          </a:xfrm>
        </p:grpSpPr>
        <p:sp>
          <p:nvSpPr>
            <p:cNvPr id="42" name="椭圆 41"/>
            <p:cNvSpPr/>
            <p:nvPr/>
          </p:nvSpPr>
          <p:spPr>
            <a:xfrm>
              <a:off x="4064714" y="5308921"/>
              <a:ext cx="1016511" cy="1016511"/>
            </a:xfrm>
            <a:prstGeom prst="ellipse">
              <a:avLst/>
            </a:prstGeom>
            <a:gradFill>
              <a:gsLst>
                <a:gs pos="0">
                  <a:schemeClr val="bg1">
                    <a:lumMod val="80000"/>
                  </a:schemeClr>
                </a:gs>
                <a:gs pos="100000">
                  <a:schemeClr val="bg1">
                    <a:lumMod val="97000"/>
                  </a:schemeClr>
                </a:gs>
              </a:gsLst>
              <a:lin ang="27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4216473" y="5480157"/>
              <a:ext cx="711301" cy="71130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5875"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63500" dist="254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4" name="文本框 22"/>
            <p:cNvSpPr txBox="1"/>
            <p:nvPr/>
          </p:nvSpPr>
          <p:spPr>
            <a:xfrm>
              <a:off x="4331895" y="5651541"/>
              <a:ext cx="482148" cy="367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prstClr val="white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12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726333" y="2546065"/>
            <a:ext cx="2534821" cy="2566142"/>
            <a:chOff x="4144085" y="2646001"/>
            <a:chExt cx="1272884" cy="2567564"/>
          </a:xfrm>
        </p:grpSpPr>
        <p:sp>
          <p:nvSpPr>
            <p:cNvPr id="80" name="文本框 59"/>
            <p:cNvSpPr txBox="1"/>
            <p:nvPr/>
          </p:nvSpPr>
          <p:spPr>
            <a:xfrm>
              <a:off x="4144085" y="2646001"/>
              <a:ext cx="1180221" cy="337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</a:pPr>
              <a:r>
                <a:rPr lang="zh-CN" altLang="en-US" sz="1600" b="1" dirty="0">
                  <a:latin typeface="时尚中黑简体" panose="01010104010101010101" pitchFamily="2" charset="-122"/>
                  <a:ea typeface="时尚中黑简体" panose="01010104010101010101" pitchFamily="2" charset="-122"/>
                  <a:sym typeface="微软雅黑" panose="020B0503020204020204" charset="-122"/>
                </a:rPr>
                <a:t>数据资源关系检索</a:t>
              </a:r>
              <a:endParaRPr lang="zh-CN" altLang="en-US" sz="1600" b="1" dirty="0"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81" name="文本框 149"/>
            <p:cNvSpPr txBox="1"/>
            <p:nvPr/>
          </p:nvSpPr>
          <p:spPr>
            <a:xfrm>
              <a:off x="4149368" y="2858951"/>
              <a:ext cx="1267601" cy="2354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针对智能识别出的数据资源关系为用户提供检索查询功能，可提供关键字检索、多维度条件检索、过滤条件多选、移除、重置、查询结果列表展示、数据资源关系列表查看及数据资源关系详情查看等。</a:t>
              </a:r>
              <a:endParaRPr lang="zh-CN" altLang="zh-CN" sz="1400" kern="1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圆角矩形 7"/>
          <p:cNvSpPr/>
          <p:nvPr/>
        </p:nvSpPr>
        <p:spPr>
          <a:xfrm>
            <a:off x="6737985" y="2155825"/>
            <a:ext cx="2456815" cy="3356610"/>
          </a:xfrm>
          <a:prstGeom prst="roundRect">
            <a:avLst>
              <a:gd name="adj" fmla="val 12557"/>
            </a:avLst>
          </a:prstGeom>
          <a:gradFill>
            <a:gsLst>
              <a:gs pos="0">
                <a:schemeClr val="bg1">
                  <a:lumMod val="80000"/>
                </a:schemeClr>
              </a:gs>
              <a:gs pos="100000">
                <a:schemeClr val="bg1">
                  <a:lumMod val="97000"/>
                </a:schemeClr>
              </a:gs>
            </a:gsLst>
            <a:lin ang="2700000" scaled="1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444500" dist="1778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prstClr val="white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585322" y="1741731"/>
            <a:ext cx="762482" cy="762207"/>
            <a:chOff x="2135898" y="1485578"/>
            <a:chExt cx="1016511" cy="1016511"/>
          </a:xfrm>
        </p:grpSpPr>
        <p:sp>
          <p:nvSpPr>
            <p:cNvPr id="38" name="椭圆 37"/>
            <p:cNvSpPr/>
            <p:nvPr/>
          </p:nvSpPr>
          <p:spPr>
            <a:xfrm>
              <a:off x="2135898" y="1485578"/>
              <a:ext cx="1016511" cy="1016511"/>
            </a:xfrm>
            <a:prstGeom prst="ellipse">
              <a:avLst/>
            </a:prstGeom>
            <a:gradFill>
              <a:gsLst>
                <a:gs pos="0">
                  <a:schemeClr val="bg1">
                    <a:lumMod val="80000"/>
                  </a:schemeClr>
                </a:gs>
                <a:gs pos="100000">
                  <a:schemeClr val="bg1">
                    <a:lumMod val="97000"/>
                  </a:schemeClr>
                </a:gs>
              </a:gsLst>
              <a:lin ang="27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2288503" y="1638183"/>
              <a:ext cx="711301" cy="71130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5875"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63500" dist="254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0" name="文本框 17"/>
            <p:cNvSpPr txBox="1"/>
            <p:nvPr/>
          </p:nvSpPr>
          <p:spPr>
            <a:xfrm>
              <a:off x="2288504" y="1803865"/>
              <a:ext cx="711301" cy="367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prstClr val="white"/>
                  </a:solidFill>
                  <a:latin typeface="Impact" panose="020B0806030902050204" pitchFamily="34" charset="0"/>
                </a:rPr>
                <a:t>06</a:t>
              </a:r>
              <a:endParaRPr lang="zh-CN" altLang="en-US" sz="12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6850470" y="2546065"/>
            <a:ext cx="2232186" cy="1931928"/>
            <a:chOff x="3787051" y="2363287"/>
            <a:chExt cx="2194137" cy="1387227"/>
          </a:xfrm>
        </p:grpSpPr>
        <p:sp>
          <p:nvSpPr>
            <p:cNvPr id="91" name="文本框 59"/>
            <p:cNvSpPr txBox="1"/>
            <p:nvPr/>
          </p:nvSpPr>
          <p:spPr>
            <a:xfrm>
              <a:off x="3977083" y="2363287"/>
              <a:ext cx="1713306" cy="242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</a:pPr>
              <a:r>
                <a:rPr lang="zh-CN" altLang="en-US" sz="1600" b="1" dirty="0">
                  <a:latin typeface="时尚中黑简体" panose="01010104010101010101" pitchFamily="2" charset="-122"/>
                  <a:ea typeface="时尚中黑简体" panose="01010104010101010101" pitchFamily="2" charset="-122"/>
                  <a:sym typeface="微软雅黑" panose="020B0503020204020204" charset="-122"/>
                </a:rPr>
                <a:t>系统配置管理</a:t>
              </a:r>
              <a:endParaRPr lang="zh-CN" altLang="en-US" sz="1600" b="1" dirty="0"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92" name="文本框 149"/>
            <p:cNvSpPr txBox="1"/>
            <p:nvPr/>
          </p:nvSpPr>
          <p:spPr>
            <a:xfrm>
              <a:off x="3787051" y="2524883"/>
              <a:ext cx="2194137" cy="1225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en-US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为保证系统的安全稳定运行，从系统、用户、权限等角度多方位考虑，满足对系统、用户、权限及角色的</a:t>
              </a:r>
              <a:r>
                <a:rPr lang="zh-CN" altLang="en-US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增删改查及配置需求。</a:t>
              </a:r>
              <a:endParaRPr lang="zh-CN" altLang="en-US" sz="1400" kern="1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圆角矩形 32"/>
          <p:cNvSpPr/>
          <p:nvPr/>
        </p:nvSpPr>
        <p:spPr>
          <a:xfrm>
            <a:off x="3730625" y="2125345"/>
            <a:ext cx="2512060" cy="3432175"/>
          </a:xfrm>
          <a:prstGeom prst="roundRect">
            <a:avLst>
              <a:gd name="adj" fmla="val 12557"/>
            </a:avLst>
          </a:prstGeom>
          <a:gradFill>
            <a:gsLst>
              <a:gs pos="0">
                <a:schemeClr val="bg1">
                  <a:lumMod val="80000"/>
                </a:schemeClr>
              </a:gs>
              <a:gs pos="100000">
                <a:schemeClr val="bg1">
                  <a:lumMod val="97000"/>
                </a:schemeClr>
              </a:gs>
            </a:gsLst>
            <a:lin ang="2700000" scaled="1"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>
            <a:outerShdw blurRad="444500" dist="1778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>
              <a:solidFill>
                <a:schemeClr val="tx1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703017" y="1681983"/>
            <a:ext cx="762482" cy="762207"/>
            <a:chOff x="6699927" y="981522"/>
            <a:chExt cx="1016511" cy="1016511"/>
          </a:xfrm>
        </p:grpSpPr>
        <p:sp>
          <p:nvSpPr>
            <p:cNvPr id="46" name="椭圆 45"/>
            <p:cNvSpPr/>
            <p:nvPr/>
          </p:nvSpPr>
          <p:spPr>
            <a:xfrm>
              <a:off x="6699927" y="981522"/>
              <a:ext cx="1016511" cy="1016511"/>
            </a:xfrm>
            <a:prstGeom prst="ellipse">
              <a:avLst/>
            </a:prstGeom>
            <a:gradFill>
              <a:gsLst>
                <a:gs pos="0">
                  <a:schemeClr val="bg1">
                    <a:lumMod val="80000"/>
                  </a:schemeClr>
                </a:gs>
                <a:gs pos="100000">
                  <a:schemeClr val="bg1">
                    <a:lumMod val="97000"/>
                  </a:schemeClr>
                </a:gs>
              </a:gsLst>
              <a:lin ang="2700000" scaled="1"/>
            </a:gradFill>
            <a:ln w="22225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203200" dist="1016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6852532" y="1145215"/>
              <a:ext cx="711301" cy="711301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15875"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63500" dist="25400" dir="2700000" algn="tl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48" name="文本框 23"/>
            <p:cNvSpPr txBox="1"/>
            <p:nvPr/>
          </p:nvSpPr>
          <p:spPr>
            <a:xfrm>
              <a:off x="6937162" y="1295081"/>
              <a:ext cx="512095" cy="367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prstClr val="white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1200" dirty="0">
                <a:solidFill>
                  <a:prstClr val="white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3715045" y="2546065"/>
            <a:ext cx="2512217" cy="2248582"/>
            <a:chOff x="4627326" y="2322607"/>
            <a:chExt cx="2214519" cy="410932"/>
          </a:xfrm>
        </p:grpSpPr>
        <p:sp>
          <p:nvSpPr>
            <p:cNvPr id="94" name="文本框 59"/>
            <p:cNvSpPr txBox="1"/>
            <p:nvPr/>
          </p:nvSpPr>
          <p:spPr>
            <a:xfrm>
              <a:off x="4791039" y="2322607"/>
              <a:ext cx="2005026" cy="6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</a:pPr>
              <a:r>
                <a:rPr lang="zh-CN" altLang="en-US" sz="1600" b="1" dirty="0">
                  <a:latin typeface="时尚中黑简体" panose="01010104010101010101" pitchFamily="2" charset="-122"/>
                  <a:ea typeface="时尚中黑简体" panose="01010104010101010101" pitchFamily="2" charset="-122"/>
                  <a:sym typeface="微软雅黑" panose="020B0503020204020204" charset="-122"/>
                </a:rPr>
                <a:t>数据资源关系使用管理</a:t>
              </a:r>
              <a:endParaRPr lang="zh-CN" altLang="en-US" sz="1600" b="1" dirty="0"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charset="-122"/>
              </a:endParaRPr>
            </a:p>
          </p:txBody>
        </p:sp>
        <p:sp>
          <p:nvSpPr>
            <p:cNvPr id="95" name="文本框 149"/>
            <p:cNvSpPr txBox="1"/>
            <p:nvPr/>
          </p:nvSpPr>
          <p:spPr>
            <a:xfrm>
              <a:off x="4627326" y="2362536"/>
              <a:ext cx="2214519" cy="371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0"/>
                </a:spcAft>
              </a:pP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提供数据资源关系从发起申请，到审批到数据资源获取的全流程在线化操作</a:t>
              </a:r>
              <a:r>
                <a:rPr lang="zh-CN" altLang="en-US" sz="1400" kern="100" dirty="0">
                  <a:latin typeface="+mn-ea"/>
                  <a:ea typeface="+mn-ea"/>
                  <a:cs typeface="Times New Roman" panose="02020603050405020304" pitchFamily="18" charset="0"/>
                </a:rPr>
                <a:t>。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审批后用户可直接获取所需的数据资源关系，并能</a:t>
              </a:r>
              <a:r>
                <a:rPr lang="zh-CN" altLang="zh-CN" sz="1400" kern="100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依据业务、部门及系统监测数据资源关系使用情况。</a:t>
              </a:r>
              <a:endParaRPr lang="zh-CN" altLang="zh-CN" sz="1400" kern="1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843009-32CD-45DD-BA04-841C68F9FB7D}" type="slidenum">
              <a:rPr lang="zh-CN" altLang="en-US" sz="140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b="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TextBox 11"/>
          <p:cNvSpPr>
            <a:spLocks noChangeArrowheads="1"/>
          </p:cNvSpPr>
          <p:nvPr/>
        </p:nvSpPr>
        <p:spPr bwMode="auto">
          <a:xfrm>
            <a:off x="2289175" y="620715"/>
            <a:ext cx="70564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buClrTx/>
              <a:buSzTx/>
              <a:buFontTx/>
            </a:pP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需求调研与分析过程及文档</a:t>
            </a: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介绍</a:t>
            </a:r>
            <a:endParaRPr kumimoji="0"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76605" y="2564765"/>
          <a:ext cx="7861935" cy="31781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9670"/>
                <a:gridCol w="1327785"/>
                <a:gridCol w="1814195"/>
                <a:gridCol w="3550285"/>
              </a:tblGrid>
              <a:tr h="34861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序号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阶段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工期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提交成果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07390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项目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需求调研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2023.5~2023.8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完成项目需求调研，提交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项目需求调研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报告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0675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1" lang="zh-CN" altLang="en-US" sz="14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项目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启动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2023/</a:t>
                      </a:r>
                      <a:r>
                        <a:rPr kumimoji="1" lang="en-US" altLang="zh-CN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8/4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提交项目启动会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报告，完成项目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启动会</a:t>
                      </a:r>
                      <a:endParaRPr kumimoji="1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0802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1" lang="zh-CN" altLang="en-US" sz="14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项目需求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分析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2023.7~2023.9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完成项目需求分析，并提交需求规格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说明书</a:t>
                      </a:r>
                      <a:endParaRPr kumimoji="1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95960" y="1416685"/>
            <a:ext cx="825754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本项目需求调研工作起始于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2023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年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5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月份，后续通过多次电话沟通及汇报完成需求调研相关工作，项目于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2023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年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8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月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4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日启动，后续基于项目可研报告及需求调研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报告完成需求分析相关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工作。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  <a:cs typeface="宋体" panose="02010600030101010101" pitchFamily="2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928495" y="5300980"/>
          <a:ext cx="13652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2" imgW="971550" imgH="666750" progId="Word.Document.8">
                  <p:embed/>
                </p:oleObj>
              </mc:Choice>
              <mc:Fallback>
                <p:oleObj name="" showAsIcon="1" r:id="rId2" imgW="971550" imgH="666750" progId="Word.Document.8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8495" y="5300980"/>
                        <a:ext cx="136525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41290" y="5229225"/>
          <a:ext cx="1182370" cy="83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4" imgW="971550" imgH="666750" progId="Word.Document.8">
                  <p:embed/>
                </p:oleObj>
              </mc:Choice>
              <mc:Fallback>
                <p:oleObj name="" showAsIcon="1" r:id="rId4" imgW="971550" imgH="666750" progId="Word.Document.8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41290" y="5229225"/>
                        <a:ext cx="1182370" cy="839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5" name="Object 383"/>
          <p:cNvGraphicFramePr>
            <a:graphicFrameLocks noChangeAspect="1"/>
          </p:cNvGraphicFramePr>
          <p:nvPr/>
        </p:nvGraphicFramePr>
        <p:xfrm>
          <a:off x="272480" y="1844675"/>
          <a:ext cx="2027635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" imgW="3505200" imgH="5461000" progId="">
                  <p:embed/>
                </p:oleObj>
              </mc:Choice>
              <mc:Fallback>
                <p:oleObj name="" r:id="rId1" imgW="3505200" imgH="5461000" progId="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80" y="1844675"/>
                        <a:ext cx="2027635" cy="422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6" name="组合 1"/>
          <p:cNvGrpSpPr/>
          <p:nvPr>
            <p:custDataLst>
              <p:tags r:id="rId3"/>
            </p:custDataLst>
          </p:nvPr>
        </p:nvGrpSpPr>
        <p:grpSpPr bwMode="auto">
          <a:xfrm>
            <a:off x="3311566" y="1844824"/>
            <a:ext cx="6320235" cy="796925"/>
            <a:chOff x="0" y="0"/>
            <a:chExt cx="5834063" cy="798512"/>
          </a:xfrm>
        </p:grpSpPr>
        <p:grpSp>
          <p:nvGrpSpPr>
            <p:cNvPr id="49178" name="Group 10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82" name="Rectangle 8"/>
              <p:cNvPicPr>
                <a:picLocks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3" name="Text Box 1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4" y="24"/>
                <a:ext cx="499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一.</a:t>
                </a:r>
                <a:endParaRPr lang="zh-CN" altLang="en-US" sz="1800" b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79" name="Group 13"/>
            <p:cNvGrpSpPr/>
            <p:nvPr/>
          </p:nvGrpSpPr>
          <p:grpSpPr bwMode="auto">
            <a:xfrm>
              <a:off x="822325" y="0"/>
              <a:ext cx="5011738" cy="736600"/>
              <a:chOff x="0" y="0"/>
              <a:chExt cx="3157" cy="464"/>
            </a:xfrm>
          </p:grpSpPr>
          <p:pic>
            <p:nvPicPr>
              <p:cNvPr id="49180" name="Text Box 13"/>
              <p:cNvPicPr>
                <a:picLocks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1" name="Text Box 15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4" y="24"/>
                <a:ext cx="3044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None/>
                </a:pPr>
                <a:r>
                  <a:rPr lang="zh-CN" altLang="en-US" sz="2000" dirty="0"/>
                  <a:t>项目概述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9159" name="组合 2"/>
          <p:cNvGrpSpPr/>
          <p:nvPr>
            <p:custDataLst>
              <p:tags r:id="rId10"/>
            </p:custDataLst>
          </p:nvPr>
        </p:nvGrpSpPr>
        <p:grpSpPr bwMode="auto">
          <a:xfrm>
            <a:off x="3311566" y="2708920"/>
            <a:ext cx="6321954" cy="798512"/>
            <a:chOff x="0" y="0"/>
            <a:chExt cx="5834063" cy="798512"/>
          </a:xfrm>
        </p:grpSpPr>
        <p:grpSp>
          <p:nvGrpSpPr>
            <p:cNvPr id="49160" name="Group 4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64" name="Rectangle 9"/>
              <p:cNvPicPr>
                <a:picLocks noChangeArrowheads="1"/>
              </p:cNvPicPr>
              <p:nvPr>
                <p:custDataLst>
                  <p:tags r:id="rId11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5" name="Text Box 6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Wingdings" panose="05000000000000000000" pitchFamily="2" charset="2"/>
                  <a:buNone/>
                </a:pPr>
                <a:r>
                  <a:rPr lang="zh-CN" altLang="en-US" sz="2400">
                    <a:solidFill>
                      <a:schemeClr val="tx1"/>
                    </a:solidFill>
                  </a:rPr>
                  <a:t>二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.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61" name="Group 7"/>
            <p:cNvGrpSpPr/>
            <p:nvPr/>
          </p:nvGrpSpPr>
          <p:grpSpPr bwMode="auto">
            <a:xfrm>
              <a:off x="822325" y="0"/>
              <a:ext cx="5011738" cy="738187"/>
              <a:chOff x="0" y="0"/>
              <a:chExt cx="3157" cy="465"/>
            </a:xfrm>
          </p:grpSpPr>
          <p:pic>
            <p:nvPicPr>
              <p:cNvPr id="49162" name="Text Box 10"/>
              <p:cNvPicPr>
                <a:picLocks noChangeArrowheads="1"/>
              </p:cNvPicPr>
              <p:nvPr>
                <p:custDataLst>
                  <p:tags r:id="rId14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3" name="Text Box 9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4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项目需求调研与分析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9021" y="260350"/>
            <a:ext cx="8310033" cy="8651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zh-CN" altLang="en-US" dirty="0"/>
              <a:t>目录</a:t>
            </a:r>
            <a:endParaRPr lang="zh-CN" dirty="0"/>
          </a:p>
        </p:txBody>
      </p:sp>
      <p:pic>
        <p:nvPicPr>
          <p:cNvPr id="33" name="Picture 12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473" y="3789149"/>
            <a:ext cx="84179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组合 4"/>
          <p:cNvGrpSpPr/>
          <p:nvPr>
            <p:custDataLst>
              <p:tags r:id="rId18"/>
            </p:custDataLst>
          </p:nvPr>
        </p:nvGrpSpPr>
        <p:grpSpPr bwMode="auto">
          <a:xfrm>
            <a:off x="3383574" y="3592861"/>
            <a:ext cx="6320235" cy="798512"/>
            <a:chOff x="0" y="0"/>
            <a:chExt cx="5834063" cy="798513"/>
          </a:xfrm>
        </p:grpSpPr>
        <p:grpSp>
          <p:nvGrpSpPr>
            <p:cNvPr id="36" name="Group 16"/>
            <p:cNvGrpSpPr/>
            <p:nvPr/>
          </p:nvGrpSpPr>
          <p:grpSpPr bwMode="auto">
            <a:xfrm>
              <a:off x="0" y="0"/>
              <a:ext cx="920750" cy="798513"/>
              <a:chOff x="0" y="0"/>
              <a:chExt cx="580" cy="503"/>
            </a:xfrm>
          </p:grpSpPr>
          <p:pic>
            <p:nvPicPr>
              <p:cNvPr id="40" name="Rectangle 8"/>
              <p:cNvPicPr>
                <a:picLocks noChangeArrowheads="1"/>
              </p:cNvPicPr>
              <p:nvPr>
                <p:custDataLst>
                  <p:tags r:id="rId19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1" name="Text Box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" y="23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FF3300"/>
                    </a:solidFill>
                  </a:rPr>
                  <a:t>三</a:t>
                </a:r>
                <a:r>
                  <a:rPr lang="en-US" altLang="zh-CN" sz="2400" dirty="0">
                    <a:solidFill>
                      <a:srgbClr val="FF3300"/>
                    </a:solidFill>
                  </a:rPr>
                  <a:t>.</a:t>
                </a:r>
                <a:endParaRPr lang="en-US" altLang="zh-CN" sz="2400" dirty="0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37" name="Group 19"/>
            <p:cNvGrpSpPr/>
            <p:nvPr/>
          </p:nvGrpSpPr>
          <p:grpSpPr bwMode="auto">
            <a:xfrm>
              <a:off x="822325" y="0"/>
              <a:ext cx="5011738" cy="738188"/>
              <a:chOff x="0" y="0"/>
              <a:chExt cx="3157" cy="465"/>
            </a:xfrm>
          </p:grpSpPr>
          <p:pic>
            <p:nvPicPr>
              <p:cNvPr id="38" name="Text Box 13"/>
              <p:cNvPicPr>
                <a:picLocks noChangeArrowheads="1"/>
              </p:cNvPicPr>
              <p:nvPr>
                <p:custDataLst>
                  <p:tags r:id="rId22"/>
                </p:custDataLst>
              </p:nvPr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39" name="Text Box 21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4" y="23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FF3300"/>
                    </a:solidFill>
                  </a:rPr>
                  <a:t>项目设计及</a:t>
                </a:r>
                <a:r>
                  <a:rPr lang="zh-CN" altLang="en-US" sz="2000" dirty="0">
                    <a:solidFill>
                      <a:srgbClr val="FF3300"/>
                    </a:solidFill>
                  </a:rPr>
                  <a:t>展示</a:t>
                </a:r>
                <a:endParaRPr lang="zh-CN" altLang="en-US" sz="2000" dirty="0">
                  <a:solidFill>
                    <a:srgbClr val="FF3300"/>
                  </a:solidFill>
                </a:endParaRPr>
              </a:p>
            </p:txBody>
          </p:sp>
        </p:grpSp>
      </p:grpSp>
      <p:grpSp>
        <p:nvGrpSpPr>
          <p:cNvPr id="42" name="组合 5"/>
          <p:cNvGrpSpPr/>
          <p:nvPr>
            <p:custDataLst>
              <p:tags r:id="rId25"/>
            </p:custDataLst>
          </p:nvPr>
        </p:nvGrpSpPr>
        <p:grpSpPr bwMode="auto">
          <a:xfrm>
            <a:off x="3383574" y="4516786"/>
            <a:ext cx="6313356" cy="798512"/>
            <a:chOff x="0" y="0"/>
            <a:chExt cx="5827713" cy="798513"/>
          </a:xfrm>
        </p:grpSpPr>
        <p:grpSp>
          <p:nvGrpSpPr>
            <p:cNvPr id="43" name="Group 22"/>
            <p:cNvGrpSpPr/>
            <p:nvPr/>
          </p:nvGrpSpPr>
          <p:grpSpPr bwMode="auto">
            <a:xfrm>
              <a:off x="0" y="0"/>
              <a:ext cx="914400" cy="798513"/>
              <a:chOff x="0" y="0"/>
              <a:chExt cx="576" cy="503"/>
            </a:xfrm>
          </p:grpSpPr>
          <p:pic>
            <p:nvPicPr>
              <p:cNvPr id="47" name="Rectangle 9"/>
              <p:cNvPicPr>
                <a:picLocks noChangeArrowheads="1"/>
              </p:cNvPicPr>
              <p:nvPr>
                <p:custDataLst>
                  <p:tags r:id="rId26"/>
                </p:custDataLst>
              </p:nvPr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76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8" name="Text Box 24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1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四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4" name="Group 25"/>
            <p:cNvGrpSpPr/>
            <p:nvPr/>
          </p:nvGrpSpPr>
          <p:grpSpPr bwMode="auto">
            <a:xfrm>
              <a:off x="815975" y="0"/>
              <a:ext cx="5011738" cy="738188"/>
              <a:chOff x="0" y="0"/>
              <a:chExt cx="3157" cy="465"/>
            </a:xfrm>
          </p:grpSpPr>
          <p:pic>
            <p:nvPicPr>
              <p:cNvPr id="45" name="Text Box 10"/>
              <p:cNvPicPr>
                <a:picLocks noChangeArrowheads="1"/>
              </p:cNvPicPr>
              <p:nvPr>
                <p:custDataLst>
                  <p:tags r:id="rId29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6" name="Text Box 27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5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000000"/>
                    </a:solidFill>
                  </a:rPr>
                  <a:t>项目</a:t>
                </a:r>
                <a:r>
                  <a:rPr lang="zh-CN" altLang="en-US" sz="2000" dirty="0">
                    <a:solidFill>
                      <a:srgbClr val="000000"/>
                    </a:solidFill>
                    <a:sym typeface="+mn-ea"/>
                  </a:rPr>
                  <a:t>下一步工作</a:t>
                </a:r>
                <a:endParaRPr lang="zh-CN" altLang="en-US" sz="2000" dirty="0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843009-32CD-45DD-BA04-841C68F9FB7D}" type="slidenum">
              <a:rPr lang="zh-CN" altLang="en-US" sz="140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b="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TextBox 11"/>
          <p:cNvSpPr>
            <a:spLocks noChangeArrowheads="1"/>
          </p:cNvSpPr>
          <p:nvPr/>
        </p:nvSpPr>
        <p:spPr bwMode="auto">
          <a:xfrm>
            <a:off x="2289175" y="620715"/>
            <a:ext cx="70564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buClrTx/>
              <a:buSzTx/>
              <a:buFontTx/>
            </a:pP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项目设计思路</a:t>
            </a:r>
            <a:endParaRPr kumimoji="0"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</a:endParaRPr>
          </a:p>
        </p:txBody>
      </p:sp>
      <p:grpSp>
        <p:nvGrpSpPr>
          <p:cNvPr id="24" name="Group 4"/>
          <p:cNvGrpSpPr/>
          <p:nvPr/>
        </p:nvGrpSpPr>
        <p:grpSpPr bwMode="auto">
          <a:xfrm>
            <a:off x="632461" y="1341120"/>
            <a:ext cx="8674100" cy="2004695"/>
            <a:chOff x="273541" y="0"/>
            <a:chExt cx="6945287" cy="2006122"/>
          </a:xfrm>
        </p:grpSpPr>
        <p:sp>
          <p:nvSpPr>
            <p:cNvPr id="25" name="任意多边形 2"/>
            <p:cNvSpPr>
              <a:spLocks noChangeArrowheads="1"/>
            </p:cNvSpPr>
            <p:nvPr/>
          </p:nvSpPr>
          <p:spPr bwMode="auto">
            <a:xfrm>
              <a:off x="1043319" y="0"/>
              <a:ext cx="6175509" cy="2006122"/>
            </a:xfrm>
            <a:custGeom>
              <a:avLst/>
              <a:gdLst>
                <a:gd name="T0" fmla="*/ 0 w 6587490"/>
                <a:gd name="T1" fmla="*/ 0 h 1459949"/>
                <a:gd name="T2" fmla="*/ 5857518 w 6587490"/>
                <a:gd name="T3" fmla="*/ 0 h 1459949"/>
                <a:gd name="T4" fmla="*/ 6587490 w 6587490"/>
                <a:gd name="T5" fmla="*/ 729982 h 1459949"/>
                <a:gd name="T6" fmla="*/ 5857518 w 6587490"/>
                <a:gd name="T7" fmla="*/ 1459963 h 1459949"/>
                <a:gd name="T8" fmla="*/ 0 w 6587490"/>
                <a:gd name="T9" fmla="*/ 1459963 h 1459949"/>
                <a:gd name="T10" fmla="*/ 0 w 6587490"/>
                <a:gd name="T11" fmla="*/ 0 h 14599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7490"/>
                <a:gd name="T19" fmla="*/ 0 h 1459949"/>
                <a:gd name="T20" fmla="*/ 6587490 w 6587490"/>
                <a:gd name="T21" fmla="*/ 1459949 h 14599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7490" h="1459949">
                  <a:moveTo>
                    <a:pt x="6587490" y="1459948"/>
                  </a:moveTo>
                  <a:lnTo>
                    <a:pt x="729974" y="1459948"/>
                  </a:lnTo>
                  <a:lnTo>
                    <a:pt x="0" y="729974"/>
                  </a:lnTo>
                  <a:lnTo>
                    <a:pt x="729974" y="1"/>
                  </a:lnTo>
                  <a:lnTo>
                    <a:pt x="6587490" y="1"/>
                  </a:lnTo>
                  <a:lnTo>
                    <a:pt x="6587490" y="1459948"/>
                  </a:lnTo>
                  <a:close/>
                </a:path>
              </a:pathLst>
            </a:custGeom>
            <a:gradFill rotWithShape="1">
              <a:gsLst>
                <a:gs pos="0">
                  <a:srgbClr val="7E8CA5"/>
                </a:gs>
                <a:gs pos="79999">
                  <a:srgbClr val="A6B8D8"/>
                </a:gs>
                <a:gs pos="100000">
                  <a:srgbClr val="A6B9D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8784" tIns="102871" rIns="192024" bIns="102870"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2286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项目设计工作的</a:t>
              </a: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原则：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1.以可研报告、需求调研报告和需求规格说明书为指导，全面精准理解和把握客户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需求。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en-US" altLang="zh-CN" sz="2100" dirty="0">
                  <a:solidFill>
                    <a:srgbClr val="FFFFFF"/>
                  </a:solidFill>
                  <a:sym typeface="+mn-ea"/>
                </a:rPr>
                <a:t>2.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设计为代码开发服务，不做面子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工程。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en-US" altLang="zh-CN" sz="2100" dirty="0">
                  <a:solidFill>
                    <a:srgbClr val="FFFFFF"/>
                  </a:solidFill>
                  <a:sym typeface="+mn-ea"/>
                </a:rPr>
                <a:t>3.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满足软件工程和国家电网相关设计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要求。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6" name="椭圆 4"/>
            <p:cNvSpPr>
              <a:spLocks noChangeArrowheads="1"/>
            </p:cNvSpPr>
            <p:nvPr/>
          </p:nvSpPr>
          <p:spPr bwMode="auto">
            <a:xfrm>
              <a:off x="273541" y="271974"/>
              <a:ext cx="1459949" cy="1459949"/>
            </a:xfrm>
            <a:prstGeom prst="ellipse">
              <a:avLst/>
            </a:prstGeom>
            <a:blipFill dpi="0" rotWithShape="1">
              <a:blip r:embed="rId1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" name="Group 10"/>
          <p:cNvGrpSpPr/>
          <p:nvPr/>
        </p:nvGrpSpPr>
        <p:grpSpPr bwMode="auto">
          <a:xfrm>
            <a:off x="560706" y="3573145"/>
            <a:ext cx="8818245" cy="2825115"/>
            <a:chOff x="391519" y="950475"/>
            <a:chExt cx="7307811" cy="2490380"/>
          </a:xfrm>
        </p:grpSpPr>
        <p:sp>
          <p:nvSpPr>
            <p:cNvPr id="28" name="任意多边形 7"/>
            <p:cNvSpPr>
              <a:spLocks noChangeArrowheads="1"/>
            </p:cNvSpPr>
            <p:nvPr/>
          </p:nvSpPr>
          <p:spPr bwMode="auto">
            <a:xfrm>
              <a:off x="1107723" y="950475"/>
              <a:ext cx="6591607" cy="2490380"/>
            </a:xfrm>
            <a:custGeom>
              <a:avLst/>
              <a:gdLst>
                <a:gd name="T0" fmla="*/ 0 w 6587490"/>
                <a:gd name="T1" fmla="*/ 0 h 1459949"/>
                <a:gd name="T2" fmla="*/ 5857518 w 6587490"/>
                <a:gd name="T3" fmla="*/ 0 h 1459949"/>
                <a:gd name="T4" fmla="*/ 6587490 w 6587490"/>
                <a:gd name="T5" fmla="*/ 729982 h 1459949"/>
                <a:gd name="T6" fmla="*/ 5857518 w 6587490"/>
                <a:gd name="T7" fmla="*/ 1459956 h 1459949"/>
                <a:gd name="T8" fmla="*/ 0 w 6587490"/>
                <a:gd name="T9" fmla="*/ 1459956 h 1459949"/>
                <a:gd name="T10" fmla="*/ 0 w 6587490"/>
                <a:gd name="T11" fmla="*/ 0 h 14599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7490"/>
                <a:gd name="T19" fmla="*/ 0 h 1459949"/>
                <a:gd name="T20" fmla="*/ 6587490 w 6587490"/>
                <a:gd name="T21" fmla="*/ 1459949 h 14599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7490" h="1459949">
                  <a:moveTo>
                    <a:pt x="6587490" y="1459948"/>
                  </a:moveTo>
                  <a:lnTo>
                    <a:pt x="729974" y="1459948"/>
                  </a:lnTo>
                  <a:lnTo>
                    <a:pt x="0" y="729974"/>
                  </a:lnTo>
                  <a:lnTo>
                    <a:pt x="729974" y="1"/>
                  </a:lnTo>
                  <a:lnTo>
                    <a:pt x="6587490" y="1"/>
                  </a:lnTo>
                  <a:lnTo>
                    <a:pt x="6587490" y="1459948"/>
                  </a:lnTo>
                  <a:close/>
                </a:path>
              </a:pathLst>
            </a:custGeom>
            <a:gradFill rotWithShape="1">
              <a:gsLst>
                <a:gs pos="0">
                  <a:srgbClr val="8A2A27"/>
                </a:gs>
                <a:gs pos="79999">
                  <a:srgbClr val="B43634"/>
                </a:gs>
                <a:gs pos="100000">
                  <a:srgbClr val="B8353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8784" tIns="102871" rIns="192024" bIns="102870"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2286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设计思路和</a:t>
              </a: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内容</a:t>
              </a:r>
              <a:endParaRPr lang="zh-CN" altLang="en-US" sz="2100" b="1" dirty="0">
                <a:solidFill>
                  <a:srgbClr val="FFFFFF"/>
                </a:solidFill>
                <a:sym typeface="+mn-ea"/>
              </a:endParaRPr>
            </a:p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altLang="zh-CN" sz="2100" dirty="0">
                  <a:solidFill>
                    <a:srgbClr val="FFFFFF"/>
                  </a:solidFill>
                </a:rPr>
                <a:t>1.</a:t>
              </a:r>
              <a:r>
                <a:rPr lang="zh-CN" altLang="en-US" sz="2100" dirty="0">
                  <a:solidFill>
                    <a:srgbClr val="FFFFFF"/>
                  </a:solidFill>
                </a:rPr>
                <a:t>因为项目功能比较复杂，我们选取过去做过的数据资产管理平台项目作为基础，通过功能比对，发现差异和不足，避免从头开始，从而</a:t>
              </a:r>
              <a:r>
                <a:rPr lang="zh-CN" altLang="en-US" sz="2100" dirty="0">
                  <a:solidFill>
                    <a:srgbClr val="FFFFFF"/>
                  </a:solidFill>
                </a:rPr>
                <a:t>加快项目</a:t>
              </a:r>
              <a:r>
                <a:rPr lang="zh-CN" altLang="en-US" sz="2100" dirty="0">
                  <a:solidFill>
                    <a:srgbClr val="FFFFFF"/>
                  </a:solidFill>
                </a:rPr>
                <a:t>进度。</a:t>
              </a:r>
              <a:endParaRPr lang="zh-CN" altLang="en-US" sz="2100" dirty="0">
                <a:solidFill>
                  <a:srgbClr val="FFFFFF"/>
                </a:solidFill>
              </a:endParaRPr>
            </a:p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altLang="zh-CN" sz="2100" dirty="0">
                  <a:solidFill>
                    <a:srgbClr val="FFFFFF"/>
                  </a:solidFill>
                </a:rPr>
                <a:t>2.</a:t>
              </a:r>
              <a:r>
                <a:rPr lang="zh-CN" altLang="en-US" sz="2100" dirty="0">
                  <a:solidFill>
                    <a:srgbClr val="FFFFFF"/>
                  </a:solidFill>
                </a:rPr>
                <a:t>设计包括原型，概要设计、详细设计以及数据库设计等几个部分。</a:t>
              </a:r>
              <a:endParaRPr lang="zh-CN" altLang="en-US" sz="2100" dirty="0">
                <a:solidFill>
                  <a:srgbClr val="FFFFFF"/>
                </a:solidFill>
              </a:endParaRPr>
            </a:p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altLang="zh-CN" sz="2100" dirty="0">
                  <a:solidFill>
                    <a:srgbClr val="FFFFFF"/>
                  </a:solidFill>
                </a:rPr>
                <a:t>3.</a:t>
              </a:r>
              <a:r>
                <a:rPr lang="zh-CN" altLang="en-US" sz="2100" dirty="0">
                  <a:solidFill>
                    <a:srgbClr val="FFFFFF"/>
                  </a:solidFill>
                </a:rPr>
                <a:t>通过和开发人员密切合作来一起完成设计工作，从而让开发人员能够迅速理解项目需求及设计意图，加快</a:t>
              </a:r>
              <a:r>
                <a:rPr lang="zh-CN" altLang="en-US" sz="2100" dirty="0">
                  <a:solidFill>
                    <a:srgbClr val="FFFFFF"/>
                  </a:solidFill>
                </a:rPr>
                <a:t>代码开发工作。</a:t>
              </a:r>
              <a:endParaRPr lang="en-US" altLang="zh-CN" sz="2100" dirty="0">
                <a:solidFill>
                  <a:srgbClr val="FFFFFF"/>
                </a:solidFill>
              </a:endParaRPr>
            </a:p>
          </p:txBody>
        </p:sp>
        <p:sp>
          <p:nvSpPr>
            <p:cNvPr id="29" name="椭圆 8"/>
            <p:cNvSpPr>
              <a:spLocks noChangeArrowheads="1"/>
            </p:cNvSpPr>
            <p:nvPr/>
          </p:nvSpPr>
          <p:spPr bwMode="auto">
            <a:xfrm>
              <a:off x="391519" y="1013729"/>
              <a:ext cx="1459949" cy="1459949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843009-32CD-45DD-BA04-841C68F9FB7D}" type="slidenum">
              <a:rPr lang="zh-CN" altLang="en-US" sz="140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b="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TextBox 11"/>
          <p:cNvSpPr>
            <a:spLocks noChangeArrowheads="1"/>
          </p:cNvSpPr>
          <p:nvPr/>
        </p:nvSpPr>
        <p:spPr bwMode="auto">
          <a:xfrm>
            <a:off x="2289175" y="620715"/>
            <a:ext cx="70564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buClrTx/>
              <a:buSzTx/>
              <a:buFontTx/>
            </a:pP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项目设计过程及文档</a:t>
            </a: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介绍</a:t>
            </a:r>
            <a:endParaRPr kumimoji="0"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80160" y="2430145"/>
          <a:ext cx="7416165" cy="28162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3630"/>
                <a:gridCol w="1252220"/>
                <a:gridCol w="1711325"/>
                <a:gridCol w="3348990"/>
              </a:tblGrid>
              <a:tr h="397510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序号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阶段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工期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提交成果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805815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1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项目概要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设计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2023.9~2023.10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完成项目概要设计，并提交概要设计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报告</a:t>
                      </a:r>
                      <a:endParaRPr kumimoji="1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2</a:t>
                      </a:r>
                      <a:endParaRPr kumimoji="1" lang="zh-CN" altLang="en-US" sz="14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项目详细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设计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2023.10~2023.11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完成项目详细设计，并提交数据库设计报告及详细设计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报告</a:t>
                      </a:r>
                      <a:endParaRPr kumimoji="1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806450"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42900" algn="l"/>
                        </a:tabLst>
                      </a:pPr>
                      <a:r>
                        <a:rPr kumimoji="1" lang="en-US" sz="14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+mn-cs"/>
                        </a:rPr>
                        <a:t>3</a:t>
                      </a:r>
                      <a:endParaRPr kumimoji="1" lang="zh-CN" altLang="en-US" sz="1400" b="1" i="0" u="none" strike="noStrike" kern="1200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需求及概要设计</a:t>
                      </a:r>
                      <a:r>
                        <a:rPr kumimoji="1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评审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sz="12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2023.12~2024.3</a:t>
                      </a:r>
                      <a:endParaRPr kumimoji="1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完成项目需求及设计评审，并提交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相关评审</a:t>
                      </a:r>
                      <a:r>
                        <a:rPr kumimoji="1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报告</a:t>
                      </a:r>
                      <a:endParaRPr kumimoji="1" lang="zh-CN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136650" y="1600200"/>
            <a:ext cx="781875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6700" algn="l"/>
              </a:tabLs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本项目概要设计从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2023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年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9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月份开始，到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10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月份基本完成，详细设计于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2023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年十月初开始，同时启动项目开发工作，概要及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数据库设计完成于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2023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年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11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宋体" panose="02010600030101010101" pitchFamily="2" charset="-122"/>
              </a:rPr>
              <a:t>月份。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  <a:cs typeface="宋体" panose="02010600030101010101" pitchFamily="2" charset="-122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52775" y="5589270"/>
          <a:ext cx="1266825" cy="871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" showAsIcon="1" r:id="rId2" imgW="971550" imgH="666750" progId="Word.Document.8">
                  <p:embed/>
                </p:oleObj>
              </mc:Choice>
              <mc:Fallback>
                <p:oleObj name="" showAsIcon="1" r:id="rId2" imgW="971550" imgH="666750" progId="Word.Document.8">
                  <p:embed/>
                  <p:pic>
                    <p:nvPicPr>
                      <p:cNvPr id="0" name="图片 205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52775" y="5589270"/>
                        <a:ext cx="1266825" cy="871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528945" y="5589270"/>
          <a:ext cx="15303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" showAsIcon="1" r:id="rId4" imgW="971550" imgH="666750" progId="Word.Document.12">
                  <p:embed/>
                </p:oleObj>
              </mc:Choice>
              <mc:Fallback>
                <p:oleObj name="" showAsIcon="1" r:id="rId4" imgW="971550" imgH="666750" progId="Word.Document.12">
                  <p:embed/>
                  <p:pic>
                    <p:nvPicPr>
                      <p:cNvPr id="0" name="图片 205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28945" y="5589270"/>
                        <a:ext cx="1530350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843009-32CD-45DD-BA04-841C68F9FB7D}" type="slidenum">
              <a:rPr lang="zh-CN" altLang="en-US" sz="140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b="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TextBox 11"/>
          <p:cNvSpPr>
            <a:spLocks noChangeArrowheads="1"/>
          </p:cNvSpPr>
          <p:nvPr/>
        </p:nvSpPr>
        <p:spPr bwMode="auto">
          <a:xfrm>
            <a:off x="2289175" y="620715"/>
            <a:ext cx="70564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buClrTx/>
              <a:buSzTx/>
              <a:buFontTx/>
            </a:pP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项目展示</a:t>
            </a: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网址</a:t>
            </a:r>
            <a:endParaRPr kumimoji="0"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501775" y="1556385"/>
          <a:ext cx="6766560" cy="3261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4419600" imgH="3895725" progId="Paint.Picture">
                  <p:embed/>
                </p:oleObj>
              </mc:Choice>
              <mc:Fallback>
                <p:oleObj name="" r:id="rId1" imgW="4419600" imgH="38957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1775" y="1556385"/>
                        <a:ext cx="6766560" cy="3261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80795" y="5213985"/>
            <a:ext cx="8324850" cy="826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  <a:spcAft>
                <a:spcPct val="35000"/>
              </a:spcAft>
            </a:pPr>
            <a:r>
              <a:rPr lang="en-US" altLang="zh-CN" sz="2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登录地址：http://114.113.153.160:8080/sjzcpt/login#</a:t>
            </a:r>
            <a:endParaRPr lang="zh-CN" altLang="en-US" sz="2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90000"/>
              </a:lnSpc>
              <a:spcAft>
                <a:spcPct val="35000"/>
              </a:spcAft>
            </a:pPr>
            <a:r>
              <a:rPr lang="en-US" altLang="zh-CN" sz="2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</a:t>
            </a:r>
            <a:r>
              <a:rPr lang="zh-CN" altLang="en-US" sz="2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用户名和密码：</a:t>
            </a:r>
            <a:r>
              <a:rPr lang="en-US" altLang="zh-CN" sz="21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superadmin,123456</a:t>
            </a:r>
            <a:endParaRPr lang="en-US" altLang="zh-CN" sz="21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</a:ln>
        </p:spPr>
        <p:txBody>
          <a:bodyPr/>
          <a:lstStyle/>
          <a:p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11</a:t>
            </a:r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" name="图片 4" descr="可视化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05" y="1340485"/>
            <a:ext cx="8740775" cy="2764790"/>
          </a:xfrm>
          <a:prstGeom prst="rect">
            <a:avLst/>
          </a:prstGeom>
        </p:spPr>
      </p:pic>
      <p:pic>
        <p:nvPicPr>
          <p:cNvPr id="7" name="图片 6" descr="可视化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4364990"/>
            <a:ext cx="8742680" cy="2391410"/>
          </a:xfrm>
          <a:prstGeom prst="rect">
            <a:avLst/>
          </a:prstGeom>
        </p:spPr>
      </p:pic>
      <p:sp>
        <p:nvSpPr>
          <p:cNvPr id="9218" name="TextBox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37102" y="620715"/>
            <a:ext cx="4608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p>
            <a:pPr algn="r" eaLnBrk="0" hangingPunct="0"/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数据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云图</a:t>
            </a:r>
            <a:endParaRPr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  <a:sym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</a:ln>
        </p:spPr>
        <p:txBody>
          <a:bodyPr/>
          <a:lstStyle/>
          <a:p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11</a:t>
            </a:r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2" name="图片 11" descr="数据使用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1340485"/>
            <a:ext cx="8796020" cy="2784475"/>
          </a:xfrm>
          <a:prstGeom prst="rect">
            <a:avLst/>
          </a:prstGeom>
        </p:spPr>
      </p:pic>
      <p:pic>
        <p:nvPicPr>
          <p:cNvPr id="13" name="图片 12" descr="数据使用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4220845"/>
            <a:ext cx="8796020" cy="2472690"/>
          </a:xfrm>
          <a:prstGeom prst="rect">
            <a:avLst/>
          </a:prstGeom>
        </p:spPr>
      </p:pic>
      <p:sp>
        <p:nvSpPr>
          <p:cNvPr id="9218" name="TextBox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37102" y="620715"/>
            <a:ext cx="4608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p>
            <a:pPr algn="r" eaLnBrk="0" hangingPunct="0"/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数据使用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管理</a:t>
            </a:r>
            <a:endParaRPr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  <a:sym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105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7391400" y="6356350"/>
            <a:ext cx="2133600" cy="365125"/>
          </a:xfrm>
          <a:noFill/>
          <a:ln>
            <a:miter lim="800000"/>
          </a:ln>
        </p:spPr>
        <p:txBody>
          <a:bodyPr/>
          <a:lstStyle/>
          <a:p>
            <a:fld id="{F6FF2482-4AFE-4805-B1E7-0B0E3AF03168}" type="slidenum">
              <a:rPr lang="zh-CN" altLang="en-US" smtClean="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" name="图片 1" descr="数据检索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" y="1617980"/>
            <a:ext cx="8853170" cy="4676140"/>
          </a:xfrm>
          <a:prstGeom prst="rect">
            <a:avLst/>
          </a:prstGeom>
        </p:spPr>
      </p:pic>
      <p:sp>
        <p:nvSpPr>
          <p:cNvPr id="3" name="TextBox 1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737102" y="620715"/>
            <a:ext cx="4608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p>
            <a:pPr algn="r" eaLnBrk="0" hangingPunct="0"/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知识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检索</a:t>
            </a:r>
            <a:endParaRPr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  <a:sym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</a:ln>
        </p:spPr>
        <p:txBody>
          <a:bodyPr/>
          <a:lstStyle/>
          <a:p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11</a:t>
            </a:r>
            <a:endParaRPr lang="en-US" altLang="zh-CN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0" name="图片 9" descr="可视化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990" y="1539875"/>
            <a:ext cx="3209925" cy="4404360"/>
          </a:xfrm>
          <a:prstGeom prst="rect">
            <a:avLst/>
          </a:prstGeom>
        </p:spPr>
      </p:pic>
      <p:pic>
        <p:nvPicPr>
          <p:cNvPr id="11" name="图片 10" descr="数据样例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" y="1604645"/>
            <a:ext cx="5156835" cy="4356100"/>
          </a:xfrm>
          <a:prstGeom prst="rect">
            <a:avLst/>
          </a:prstGeom>
        </p:spPr>
      </p:pic>
      <p:sp>
        <p:nvSpPr>
          <p:cNvPr id="9218" name="TextBox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737102" y="620715"/>
            <a:ext cx="460851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p>
            <a:pPr algn="r" eaLnBrk="0" hangingPunct="0"/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数据</a:t>
            </a:r>
            <a:r>
              <a:rPr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  <a:sym typeface="Verdana" panose="020B0604030504040204" pitchFamily="34" charset="0"/>
              </a:rPr>
              <a:t>应用</a:t>
            </a:r>
            <a:endParaRPr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  <a:sym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5" name="Object 383"/>
          <p:cNvGraphicFramePr>
            <a:graphicFrameLocks noChangeAspect="1"/>
          </p:cNvGraphicFramePr>
          <p:nvPr/>
        </p:nvGraphicFramePr>
        <p:xfrm>
          <a:off x="272480" y="1844675"/>
          <a:ext cx="2027635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" imgW="3505200" imgH="5461000" progId="">
                  <p:embed/>
                </p:oleObj>
              </mc:Choice>
              <mc:Fallback>
                <p:oleObj name="" r:id="rId1" imgW="3505200" imgH="5461000" progId="">
                  <p:embed/>
                  <p:pic>
                    <p:nvPicPr>
                      <p:cNvPr id="0" name="Picture 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80" y="1844675"/>
                        <a:ext cx="2027635" cy="422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156" name="组合 1"/>
          <p:cNvGrpSpPr/>
          <p:nvPr>
            <p:custDataLst>
              <p:tags r:id="rId3"/>
            </p:custDataLst>
          </p:nvPr>
        </p:nvGrpSpPr>
        <p:grpSpPr bwMode="auto">
          <a:xfrm>
            <a:off x="3311566" y="1844824"/>
            <a:ext cx="6320235" cy="796925"/>
            <a:chOff x="0" y="0"/>
            <a:chExt cx="5834063" cy="798512"/>
          </a:xfrm>
        </p:grpSpPr>
        <p:grpSp>
          <p:nvGrpSpPr>
            <p:cNvPr id="49178" name="Group 10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82" name="Rectangle 8"/>
              <p:cNvPicPr>
                <a:picLocks noChangeArrowheads="1"/>
              </p:cNvPicPr>
              <p:nvPr>
                <p:custDataLst>
                  <p:tags r:id="rId4"/>
                </p:custDataLst>
              </p:nvPr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3" name="Text Box 12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24" y="24"/>
                <a:ext cx="499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000000"/>
                    </a:solidFill>
                  </a:rPr>
                  <a:t>一.</a:t>
                </a:r>
                <a:endParaRPr lang="zh-CN" altLang="en-US" sz="1800" b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79" name="Group 13"/>
            <p:cNvGrpSpPr/>
            <p:nvPr/>
          </p:nvGrpSpPr>
          <p:grpSpPr bwMode="auto">
            <a:xfrm>
              <a:off x="822325" y="0"/>
              <a:ext cx="5011738" cy="736600"/>
              <a:chOff x="0" y="0"/>
              <a:chExt cx="3157" cy="464"/>
            </a:xfrm>
          </p:grpSpPr>
          <p:pic>
            <p:nvPicPr>
              <p:cNvPr id="49180" name="Text Box 13"/>
              <p:cNvPicPr>
                <a:picLocks noChangeArrowheads="1"/>
              </p:cNvPicPr>
              <p:nvPr>
                <p:custDataLst>
                  <p:tags r:id="rId7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81" name="Text Box 15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54" y="24"/>
                <a:ext cx="3044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None/>
                </a:pPr>
                <a:r>
                  <a:rPr lang="zh-CN" altLang="en-US" sz="2000" dirty="0"/>
                  <a:t>项目概述</a:t>
                </a: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</p:grpSp>
      <p:grpSp>
        <p:nvGrpSpPr>
          <p:cNvPr id="49159" name="组合 2"/>
          <p:cNvGrpSpPr/>
          <p:nvPr>
            <p:custDataLst>
              <p:tags r:id="rId10"/>
            </p:custDataLst>
          </p:nvPr>
        </p:nvGrpSpPr>
        <p:grpSpPr bwMode="auto">
          <a:xfrm>
            <a:off x="3311566" y="2708920"/>
            <a:ext cx="6321954" cy="798512"/>
            <a:chOff x="0" y="0"/>
            <a:chExt cx="5834063" cy="798512"/>
          </a:xfrm>
        </p:grpSpPr>
        <p:grpSp>
          <p:nvGrpSpPr>
            <p:cNvPr id="49160" name="Group 4"/>
            <p:cNvGrpSpPr/>
            <p:nvPr/>
          </p:nvGrpSpPr>
          <p:grpSpPr bwMode="auto">
            <a:xfrm>
              <a:off x="0" y="0"/>
              <a:ext cx="920750" cy="798512"/>
              <a:chOff x="0" y="0"/>
              <a:chExt cx="580" cy="503"/>
            </a:xfrm>
          </p:grpSpPr>
          <p:pic>
            <p:nvPicPr>
              <p:cNvPr id="49164" name="Rectangle 9"/>
              <p:cNvPicPr>
                <a:picLocks noChangeArrowheads="1"/>
              </p:cNvPicPr>
              <p:nvPr>
                <p:custDataLst>
                  <p:tags r:id="rId11"/>
                </p:custDataLst>
              </p:nvPr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5" name="Text Box 6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Wingdings" panose="05000000000000000000" pitchFamily="2" charset="2"/>
                  <a:buNone/>
                </a:pPr>
                <a:r>
                  <a:rPr lang="zh-CN" altLang="en-US" sz="2400">
                    <a:solidFill>
                      <a:schemeClr val="tx1"/>
                    </a:solidFill>
                  </a:rPr>
                  <a:t>二</a:t>
                </a:r>
                <a:r>
                  <a:rPr lang="en-US" altLang="zh-CN" sz="1800" dirty="0">
                    <a:solidFill>
                      <a:schemeClr val="tx1"/>
                    </a:solidFill>
                  </a:rPr>
                  <a:t>.</a:t>
                </a:r>
                <a:endParaRPr lang="en-US" altLang="zh-CN" sz="1800" b="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161" name="Group 7"/>
            <p:cNvGrpSpPr/>
            <p:nvPr/>
          </p:nvGrpSpPr>
          <p:grpSpPr bwMode="auto">
            <a:xfrm>
              <a:off x="822325" y="0"/>
              <a:ext cx="5011738" cy="738187"/>
              <a:chOff x="0" y="0"/>
              <a:chExt cx="3157" cy="465"/>
            </a:xfrm>
          </p:grpSpPr>
          <p:pic>
            <p:nvPicPr>
              <p:cNvPr id="49162" name="Text Box 10"/>
              <p:cNvPicPr>
                <a:picLocks noChangeArrowheads="1"/>
              </p:cNvPicPr>
              <p:nvPr>
                <p:custDataLst>
                  <p:tags r:id="rId14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9163" name="Text Box 9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4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项目需求调研与分析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9021" y="260350"/>
            <a:ext cx="8310033" cy="86518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zh-CN" altLang="en-US" dirty="0"/>
              <a:t>目录</a:t>
            </a:r>
            <a:endParaRPr lang="zh-CN" dirty="0"/>
          </a:p>
        </p:txBody>
      </p:sp>
      <p:pic>
        <p:nvPicPr>
          <p:cNvPr id="33" name="Picture 12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043" y="4580994"/>
            <a:ext cx="84179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" name="组合 4"/>
          <p:cNvGrpSpPr/>
          <p:nvPr>
            <p:custDataLst>
              <p:tags r:id="rId18"/>
            </p:custDataLst>
          </p:nvPr>
        </p:nvGrpSpPr>
        <p:grpSpPr bwMode="auto">
          <a:xfrm>
            <a:off x="3383574" y="3592861"/>
            <a:ext cx="6320235" cy="798512"/>
            <a:chOff x="0" y="0"/>
            <a:chExt cx="5834063" cy="798513"/>
          </a:xfrm>
        </p:grpSpPr>
        <p:grpSp>
          <p:nvGrpSpPr>
            <p:cNvPr id="36" name="Group 16"/>
            <p:cNvGrpSpPr/>
            <p:nvPr/>
          </p:nvGrpSpPr>
          <p:grpSpPr bwMode="auto">
            <a:xfrm>
              <a:off x="0" y="0"/>
              <a:ext cx="920750" cy="798513"/>
              <a:chOff x="0" y="0"/>
              <a:chExt cx="580" cy="503"/>
            </a:xfrm>
          </p:grpSpPr>
          <p:pic>
            <p:nvPicPr>
              <p:cNvPr id="40" name="Rectangle 8"/>
              <p:cNvPicPr>
                <a:picLocks noChangeArrowheads="1"/>
              </p:cNvPicPr>
              <p:nvPr>
                <p:custDataLst>
                  <p:tags r:id="rId19"/>
                </p:custDataLst>
              </p:nvPr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80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1" name="Text Box 18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" y="23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chemeClr val="tx1"/>
                    </a:solidFill>
                  </a:rPr>
                  <a:t>三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.</a:t>
                </a:r>
                <a:endParaRPr lang="en-US" altLang="zh-CN" sz="24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" name="Group 19"/>
            <p:cNvGrpSpPr/>
            <p:nvPr/>
          </p:nvGrpSpPr>
          <p:grpSpPr bwMode="auto">
            <a:xfrm>
              <a:off x="822325" y="0"/>
              <a:ext cx="5011738" cy="738188"/>
              <a:chOff x="0" y="0"/>
              <a:chExt cx="3157" cy="465"/>
            </a:xfrm>
          </p:grpSpPr>
          <p:pic>
            <p:nvPicPr>
              <p:cNvPr id="38" name="Text Box 13"/>
              <p:cNvPicPr>
                <a:picLocks noChangeArrowheads="1"/>
              </p:cNvPicPr>
              <p:nvPr>
                <p:custDataLst>
                  <p:tags r:id="rId22"/>
                </p:custDataLst>
              </p:nvPr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39" name="Text Box 21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54" y="23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chemeClr val="tx1"/>
                    </a:solidFill>
                  </a:rPr>
                  <a:t>项目概要及详细设计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42" name="组合 5"/>
          <p:cNvGrpSpPr/>
          <p:nvPr>
            <p:custDataLst>
              <p:tags r:id="rId25"/>
            </p:custDataLst>
          </p:nvPr>
        </p:nvGrpSpPr>
        <p:grpSpPr bwMode="auto">
          <a:xfrm>
            <a:off x="3383574" y="4516786"/>
            <a:ext cx="6313356" cy="798512"/>
            <a:chOff x="0" y="0"/>
            <a:chExt cx="5827713" cy="798513"/>
          </a:xfrm>
        </p:grpSpPr>
        <p:grpSp>
          <p:nvGrpSpPr>
            <p:cNvPr id="43" name="Group 22"/>
            <p:cNvGrpSpPr/>
            <p:nvPr/>
          </p:nvGrpSpPr>
          <p:grpSpPr bwMode="auto">
            <a:xfrm>
              <a:off x="0" y="0"/>
              <a:ext cx="914400" cy="798513"/>
              <a:chOff x="0" y="0"/>
              <a:chExt cx="576" cy="503"/>
            </a:xfrm>
          </p:grpSpPr>
          <p:pic>
            <p:nvPicPr>
              <p:cNvPr id="47" name="Rectangle 9"/>
              <p:cNvPicPr>
                <a:picLocks noChangeArrowheads="1"/>
              </p:cNvPicPr>
              <p:nvPr>
                <p:custDataLst>
                  <p:tags r:id="rId26"/>
                </p:custDataLst>
              </p:nvPr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576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8" name="Text Box 24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1" y="25"/>
                <a:ext cx="499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wrap="none" lIns="0" tIns="46800" rIns="0" bIns="46800" anchor="ctr"/>
              <a:lstStyle>
                <a:lvl1pPr marL="182880" indent="-18288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400">
                    <a:solidFill>
                      <a:srgbClr val="FF3300"/>
                    </a:solidFill>
                  </a:rPr>
                  <a:t>四</a:t>
                </a:r>
                <a:r>
                  <a:rPr lang="en-US" altLang="zh-CN" sz="2400" dirty="0">
                    <a:solidFill>
                      <a:srgbClr val="FF3300"/>
                    </a:solidFill>
                  </a:rPr>
                  <a:t>.</a:t>
                </a:r>
                <a:endParaRPr lang="en-US" altLang="zh-CN" sz="2400" dirty="0">
                  <a:solidFill>
                    <a:srgbClr val="FF3300"/>
                  </a:solidFill>
                </a:endParaRPr>
              </a:p>
            </p:txBody>
          </p:sp>
        </p:grpSp>
        <p:grpSp>
          <p:nvGrpSpPr>
            <p:cNvPr id="44" name="Group 25"/>
            <p:cNvGrpSpPr/>
            <p:nvPr/>
          </p:nvGrpSpPr>
          <p:grpSpPr bwMode="auto">
            <a:xfrm>
              <a:off x="815975" y="0"/>
              <a:ext cx="5011738" cy="738188"/>
              <a:chOff x="0" y="0"/>
              <a:chExt cx="3157" cy="465"/>
            </a:xfrm>
          </p:grpSpPr>
          <p:pic>
            <p:nvPicPr>
              <p:cNvPr id="45" name="Text Box 10"/>
              <p:cNvPicPr>
                <a:picLocks noChangeArrowheads="1"/>
              </p:cNvPicPr>
              <p:nvPr>
                <p:custDataLst>
                  <p:tags r:id="rId29"/>
                </p:custDataLst>
              </p:nvPr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3157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</p:pic>
          <p:sp>
            <p:nvSpPr>
              <p:cNvPr id="46" name="Text Box 27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5" y="25"/>
                <a:ext cx="3044" cy="3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lIns="108000" tIns="36000" rIns="108000" bIns="36000" anchor="ctr"/>
              <a:lstStyle>
                <a:lvl1pPr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•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u"/>
                  <a:defRPr sz="32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6666"/>
                  </a:buClr>
                  <a:buFont typeface="Wingdings" panose="05000000000000000000" pitchFamily="2" charset="2"/>
                  <a:buChar char="»"/>
                  <a:defRPr sz="2400" b="1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微软雅黑" panose="020B0503020204020204" charset="-122"/>
                  </a:defRPr>
                </a:lvl9pPr>
              </a:lstStyle>
              <a:p>
                <a:pPr>
                  <a:spcBef>
                    <a:spcPct val="50000"/>
                  </a:spcBef>
                  <a:spcAft>
                    <a:spcPct val="50000"/>
                  </a:spcAft>
                  <a:buFont typeface="Arial" panose="020B0604020202020204" pitchFamily="34" charset="0"/>
                  <a:buNone/>
                </a:pPr>
                <a:r>
                  <a:rPr lang="zh-CN" altLang="en-US" sz="2000" dirty="0">
                    <a:solidFill>
                      <a:srgbClr val="FF3300"/>
                    </a:solidFill>
                  </a:rPr>
                  <a:t>项目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+mn-ea"/>
                  </a:rPr>
                  <a:t>下一步工作</a:t>
                </a:r>
                <a:endParaRPr lang="zh-CN" altLang="en-US" sz="2000" dirty="0">
                  <a:solidFill>
                    <a:srgbClr val="FF0000"/>
                  </a:solidFill>
                  <a:sym typeface="+mn-ea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幻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843009-32CD-45DD-BA04-841C68F9FB7D}" type="slidenum">
              <a:rPr lang="zh-CN" altLang="en-US" sz="1400"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lang="en-US" altLang="zh-CN" sz="1800" b="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TextBox 11"/>
          <p:cNvSpPr>
            <a:spLocks noChangeArrowheads="1"/>
          </p:cNvSpPr>
          <p:nvPr/>
        </p:nvSpPr>
        <p:spPr bwMode="auto">
          <a:xfrm>
            <a:off x="2289175" y="620715"/>
            <a:ext cx="705643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>
              <a:buClrTx/>
              <a:buSzTx/>
              <a:buFontTx/>
            </a:pP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项目下一步</a:t>
            </a:r>
            <a:r>
              <a:rPr kumimoji="0" lang="zh-CN" altLang="en-US" sz="3200" b="1" dirty="0">
                <a:solidFill>
                  <a:srgbClr val="235453"/>
                </a:solidFill>
                <a:latin typeface="+mj-ea"/>
                <a:ea typeface="+mj-ea"/>
                <a:cs typeface="+mj-cs"/>
              </a:rPr>
              <a:t>工作</a:t>
            </a:r>
            <a:endParaRPr kumimoji="0" lang="zh-CN" altLang="en-US" sz="3200" b="1" dirty="0">
              <a:solidFill>
                <a:srgbClr val="235453"/>
              </a:solidFill>
              <a:latin typeface="+mj-ea"/>
              <a:ea typeface="+mj-ea"/>
              <a:cs typeface="+mj-cs"/>
            </a:endParaRPr>
          </a:p>
        </p:txBody>
      </p:sp>
      <p:grpSp>
        <p:nvGrpSpPr>
          <p:cNvPr id="24" name="Group 4"/>
          <p:cNvGrpSpPr/>
          <p:nvPr/>
        </p:nvGrpSpPr>
        <p:grpSpPr bwMode="auto">
          <a:xfrm>
            <a:off x="632461" y="1341120"/>
            <a:ext cx="8674100" cy="1730691"/>
            <a:chOff x="273541" y="0"/>
            <a:chExt cx="6945287" cy="1731923"/>
          </a:xfrm>
        </p:grpSpPr>
        <p:sp>
          <p:nvSpPr>
            <p:cNvPr id="25" name="任意多边形 2"/>
            <p:cNvSpPr>
              <a:spLocks noChangeArrowheads="1"/>
            </p:cNvSpPr>
            <p:nvPr/>
          </p:nvSpPr>
          <p:spPr bwMode="auto">
            <a:xfrm>
              <a:off x="1043319" y="0"/>
              <a:ext cx="6175509" cy="1710637"/>
            </a:xfrm>
            <a:custGeom>
              <a:avLst/>
              <a:gdLst>
                <a:gd name="T0" fmla="*/ 0 w 6587490"/>
                <a:gd name="T1" fmla="*/ 0 h 1459949"/>
                <a:gd name="T2" fmla="*/ 5857518 w 6587490"/>
                <a:gd name="T3" fmla="*/ 0 h 1459949"/>
                <a:gd name="T4" fmla="*/ 6587490 w 6587490"/>
                <a:gd name="T5" fmla="*/ 729982 h 1459949"/>
                <a:gd name="T6" fmla="*/ 5857518 w 6587490"/>
                <a:gd name="T7" fmla="*/ 1459963 h 1459949"/>
                <a:gd name="T8" fmla="*/ 0 w 6587490"/>
                <a:gd name="T9" fmla="*/ 1459963 h 1459949"/>
                <a:gd name="T10" fmla="*/ 0 w 6587490"/>
                <a:gd name="T11" fmla="*/ 0 h 14599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7490"/>
                <a:gd name="T19" fmla="*/ 0 h 1459949"/>
                <a:gd name="T20" fmla="*/ 6587490 w 6587490"/>
                <a:gd name="T21" fmla="*/ 1459949 h 14599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7490" h="1459949">
                  <a:moveTo>
                    <a:pt x="6587490" y="1459948"/>
                  </a:moveTo>
                  <a:lnTo>
                    <a:pt x="729974" y="1459948"/>
                  </a:lnTo>
                  <a:lnTo>
                    <a:pt x="0" y="729974"/>
                  </a:lnTo>
                  <a:lnTo>
                    <a:pt x="729974" y="1"/>
                  </a:lnTo>
                  <a:lnTo>
                    <a:pt x="6587490" y="1"/>
                  </a:lnTo>
                  <a:lnTo>
                    <a:pt x="6587490" y="1459948"/>
                  </a:lnTo>
                  <a:close/>
                </a:path>
              </a:pathLst>
            </a:custGeom>
            <a:gradFill rotWithShape="1">
              <a:gsLst>
                <a:gs pos="0">
                  <a:srgbClr val="7E8CA5"/>
                </a:gs>
                <a:gs pos="79999">
                  <a:srgbClr val="A6B8D8"/>
                </a:gs>
                <a:gs pos="100000">
                  <a:srgbClr val="A6B9D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8784" tIns="102871" rIns="192024" bIns="102870"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2286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项目开发及测试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1.完成代码的开发（已经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基本完成）。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en-US" altLang="zh-CN" sz="2100" dirty="0">
                  <a:solidFill>
                    <a:srgbClr val="FFFFFF"/>
                  </a:solidFill>
                  <a:sym typeface="+mn-ea"/>
                </a:rPr>
                <a:t>2.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完成系统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测试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  <a:p>
              <a:pPr>
                <a:lnSpc>
                  <a:spcPct val="90000"/>
                </a:lnSpc>
                <a:spcAft>
                  <a:spcPct val="35000"/>
                </a:spcAft>
              </a:pPr>
              <a:r>
                <a:rPr lang="en-US" altLang="zh-CN" sz="2100" dirty="0">
                  <a:solidFill>
                    <a:srgbClr val="FFFFFF"/>
                  </a:solidFill>
                  <a:sym typeface="+mn-ea"/>
                </a:rPr>
                <a:t>3.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完成三方</a:t>
              </a:r>
              <a:r>
                <a:rPr lang="zh-CN" altLang="en-US" sz="2100" dirty="0">
                  <a:solidFill>
                    <a:srgbClr val="FFFFFF"/>
                  </a:solidFill>
                  <a:sym typeface="+mn-ea"/>
                </a:rPr>
                <a:t>测试</a:t>
              </a:r>
              <a:endParaRPr lang="zh-CN" altLang="en-US" sz="2100" dirty="0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6" name="椭圆 4"/>
            <p:cNvSpPr>
              <a:spLocks noChangeArrowheads="1"/>
            </p:cNvSpPr>
            <p:nvPr/>
          </p:nvSpPr>
          <p:spPr bwMode="auto">
            <a:xfrm>
              <a:off x="273541" y="271974"/>
              <a:ext cx="1459949" cy="1459949"/>
            </a:xfrm>
            <a:prstGeom prst="ellipse">
              <a:avLst/>
            </a:prstGeom>
            <a:blipFill dpi="0" rotWithShape="1">
              <a:blip r:embed="rId1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" name="Group 10"/>
          <p:cNvGrpSpPr/>
          <p:nvPr/>
        </p:nvGrpSpPr>
        <p:grpSpPr bwMode="auto">
          <a:xfrm>
            <a:off x="560705" y="3573145"/>
            <a:ext cx="8818245" cy="1508760"/>
            <a:chOff x="391519" y="950475"/>
            <a:chExt cx="7307811" cy="2490380"/>
          </a:xfrm>
        </p:grpSpPr>
        <p:sp>
          <p:nvSpPr>
            <p:cNvPr id="28" name="任意多边形 7"/>
            <p:cNvSpPr>
              <a:spLocks noChangeArrowheads="1"/>
            </p:cNvSpPr>
            <p:nvPr/>
          </p:nvSpPr>
          <p:spPr bwMode="auto">
            <a:xfrm>
              <a:off x="1107723" y="950475"/>
              <a:ext cx="6591607" cy="2490380"/>
            </a:xfrm>
            <a:custGeom>
              <a:avLst/>
              <a:gdLst>
                <a:gd name="T0" fmla="*/ 0 w 6587490"/>
                <a:gd name="T1" fmla="*/ 0 h 1459949"/>
                <a:gd name="T2" fmla="*/ 5857518 w 6587490"/>
                <a:gd name="T3" fmla="*/ 0 h 1459949"/>
                <a:gd name="T4" fmla="*/ 6587490 w 6587490"/>
                <a:gd name="T5" fmla="*/ 729982 h 1459949"/>
                <a:gd name="T6" fmla="*/ 5857518 w 6587490"/>
                <a:gd name="T7" fmla="*/ 1459956 h 1459949"/>
                <a:gd name="T8" fmla="*/ 0 w 6587490"/>
                <a:gd name="T9" fmla="*/ 1459956 h 1459949"/>
                <a:gd name="T10" fmla="*/ 0 w 6587490"/>
                <a:gd name="T11" fmla="*/ 0 h 14599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7490"/>
                <a:gd name="T19" fmla="*/ 0 h 1459949"/>
                <a:gd name="T20" fmla="*/ 6587490 w 6587490"/>
                <a:gd name="T21" fmla="*/ 1459949 h 14599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7490" h="1459949">
                  <a:moveTo>
                    <a:pt x="6587490" y="1459948"/>
                  </a:moveTo>
                  <a:lnTo>
                    <a:pt x="729974" y="1459948"/>
                  </a:lnTo>
                  <a:lnTo>
                    <a:pt x="0" y="729974"/>
                  </a:lnTo>
                  <a:lnTo>
                    <a:pt x="729974" y="1"/>
                  </a:lnTo>
                  <a:lnTo>
                    <a:pt x="6587490" y="1"/>
                  </a:lnTo>
                  <a:lnTo>
                    <a:pt x="6587490" y="1459948"/>
                  </a:lnTo>
                  <a:close/>
                </a:path>
              </a:pathLst>
            </a:custGeom>
            <a:gradFill rotWithShape="1">
              <a:gsLst>
                <a:gs pos="0">
                  <a:srgbClr val="8A2A27"/>
                </a:gs>
                <a:gs pos="79999">
                  <a:srgbClr val="B43634"/>
                </a:gs>
                <a:gs pos="100000">
                  <a:srgbClr val="B8353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8784" tIns="102871" rIns="192024" bIns="102870"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2286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项目验收和</a:t>
              </a:r>
              <a:r>
                <a:rPr lang="zh-CN" altLang="en-US" sz="2100" b="1" dirty="0">
                  <a:solidFill>
                    <a:srgbClr val="FFFFFF"/>
                  </a:solidFill>
                  <a:sym typeface="+mn-ea"/>
                </a:rPr>
                <a:t>交付</a:t>
              </a:r>
              <a:endParaRPr lang="zh-CN" altLang="en-US" sz="2100" b="1" dirty="0">
                <a:solidFill>
                  <a:srgbClr val="FFFFFF"/>
                </a:solidFill>
                <a:sym typeface="+mn-ea"/>
              </a:endParaRPr>
            </a:p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altLang="zh-CN" sz="2100" dirty="0">
                  <a:solidFill>
                    <a:srgbClr val="FFFFFF"/>
                  </a:solidFill>
                </a:rPr>
                <a:t>1.</a:t>
              </a:r>
              <a:r>
                <a:rPr lang="zh-CN" altLang="en-US" sz="2100" dirty="0">
                  <a:solidFill>
                    <a:srgbClr val="FFFFFF"/>
                  </a:solidFill>
                </a:rPr>
                <a:t>完成项目</a:t>
              </a:r>
              <a:r>
                <a:rPr lang="zh-CN" altLang="en-US" sz="2100" dirty="0">
                  <a:solidFill>
                    <a:srgbClr val="FFFFFF"/>
                  </a:solidFill>
                </a:rPr>
                <a:t>验收</a:t>
              </a:r>
              <a:endParaRPr lang="zh-CN" altLang="en-US" sz="2100" dirty="0">
                <a:solidFill>
                  <a:srgbClr val="FFFFFF"/>
                </a:solidFill>
              </a:endParaRPr>
            </a:p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r>
                <a:rPr lang="en-US" altLang="zh-CN" sz="2100" dirty="0">
                  <a:solidFill>
                    <a:srgbClr val="FFFFFF"/>
                  </a:solidFill>
                </a:rPr>
                <a:t>2.</a:t>
              </a:r>
              <a:r>
                <a:rPr lang="zh-CN" altLang="en-US" sz="2100" dirty="0">
                  <a:solidFill>
                    <a:srgbClr val="FFFFFF"/>
                  </a:solidFill>
                </a:rPr>
                <a:t>完成项目的</a:t>
              </a:r>
              <a:r>
                <a:rPr lang="zh-CN" altLang="en-US" sz="2100" dirty="0">
                  <a:solidFill>
                    <a:srgbClr val="FFFFFF"/>
                  </a:solidFill>
                </a:rPr>
                <a:t>交付</a:t>
              </a:r>
              <a:endParaRPr lang="zh-CN" altLang="en-US" sz="2100" dirty="0">
                <a:solidFill>
                  <a:srgbClr val="FFFFFF"/>
                </a:solidFill>
              </a:endParaRPr>
            </a:p>
            <a:p>
              <a:pPr marL="0" lvl="1" indent="0">
                <a:lnSpc>
                  <a:spcPct val="90000"/>
                </a:lnSpc>
                <a:spcAft>
                  <a:spcPct val="15000"/>
                </a:spcAft>
                <a:buFont typeface="Arial" panose="020B0604020202020204" pitchFamily="34" charset="0"/>
                <a:buNone/>
              </a:pPr>
              <a:endParaRPr lang="zh-CN" altLang="en-US" sz="2100" dirty="0">
                <a:solidFill>
                  <a:srgbClr val="FFFFFF"/>
                </a:solidFill>
              </a:endParaRPr>
            </a:p>
          </p:txBody>
        </p:sp>
        <p:sp>
          <p:nvSpPr>
            <p:cNvPr id="29" name="椭圆 8"/>
            <p:cNvSpPr>
              <a:spLocks noChangeArrowheads="1"/>
            </p:cNvSpPr>
            <p:nvPr/>
          </p:nvSpPr>
          <p:spPr bwMode="auto">
            <a:xfrm>
              <a:off x="391519" y="1013729"/>
              <a:ext cx="1459949" cy="1459949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800">
                  <a:solidFill>
                    <a:schemeClr val="tx1"/>
                  </a:solidFill>
                  <a:latin typeface="黑体" panose="02010609060101010101" pitchFamily="2" charset="-122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Box 1"/>
          <p:cNvSpPr txBox="1">
            <a:spLocks noChangeArrowheads="1"/>
          </p:cNvSpPr>
          <p:nvPr/>
        </p:nvSpPr>
        <p:spPr bwMode="auto">
          <a:xfrm>
            <a:off x="2579688" y="2714625"/>
            <a:ext cx="4945062" cy="1354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8200" b="1">
                <a:solidFill>
                  <a:srgbClr val="0000FF"/>
                </a:solidFill>
                <a:ea typeface="黑体" panose="02010609060101010101" pitchFamily="2" charset="-122"/>
              </a:rPr>
              <a:t>谢   谢！</a:t>
            </a:r>
            <a:endParaRPr lang="zh-CN" altLang="en-US" sz="8200" b="1">
              <a:solidFill>
                <a:srgbClr val="0000FF"/>
              </a:solidFill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STYLE" val="AcnStamp"/>
  <p:tag name="DATE" val="2009-8-23 21:49:35"/>
</p:tagLst>
</file>

<file path=ppt/tags/tag2.xml><?xml version="1.0" encoding="utf-8"?>
<p:tagLst xmlns:p="http://schemas.openxmlformats.org/presentationml/2006/main">
  <p:tag name="STYLE" val="AcnStpConnector"/>
  <p:tag name="DATE" val="2009-8-23 21:49:35"/>
</p:tagLst>
</file>

<file path=ppt/tags/tag3.xml><?xml version="1.0" encoding="utf-8"?>
<p:tagLst xmlns:p="http://schemas.openxmlformats.org/presentationml/2006/main">
  <p:tag name="STYLE" val="AcnStpConnector"/>
  <p:tag name="DATE" val="2009-8-23 21:49:35"/>
</p:tagLst>
</file>

<file path=ppt/tags/tag4.xml><?xml version="1.0" encoding="utf-8"?>
<p:tagLst xmlns:p="http://schemas.openxmlformats.org/presentationml/2006/main">
  <p:tag name="STYLE" val="AcnSubjectTitle"/>
  <p:tag name="DATE" val="2009-8-25 12:01:25"/>
</p:tagLst>
</file>

<file path=ppt/tags/tag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1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2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3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5.xml><?xml version="1.0" encoding="utf-8"?>
<p:tagLst xmlns:p="http://schemas.openxmlformats.org/presentationml/2006/main">
  <p:tag name="KSO_WM_UNIT_TABLE_BEAUTIFY" val="smartTable{42845a2f-b332-4bcb-b4d5-8058d283513a}"/>
  <p:tag name="TABLE_ENDDRAG_ORIGIN_RECT" val="619*250"/>
  <p:tag name="TABLE_ENDDRAG_RECT" val="61*201*619*250"/>
</p:tagLst>
</file>

<file path=ppt/tags/tag4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4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5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66.xml><?xml version="1.0" encoding="utf-8"?>
<p:tagLst xmlns:p="http://schemas.openxmlformats.org/presentationml/2006/main">
  <p:tag name="KSO_WM_UNIT_TABLE_BEAUTIFY" val="smartTable{753d1b48-24e7-47f2-b2da-7ff423a9e4a7}"/>
  <p:tag name="TABLE_ENDDRAG_ORIGIN_RECT" val="583*221"/>
  <p:tag name="TABLE_ENDDRAG_RECT" val="100*191*583*22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7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1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2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3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4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5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6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7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8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89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90.xml><?xml version="1.0" encoding="utf-8"?>
<p:tagLst xmlns:p="http://schemas.openxmlformats.org/presentationml/2006/main">
  <p:tag name="KSO_WM_DIAGRAM_VIRTUALLY_FRAME" val="{&quot;height&quot;:273.26566929133855,&quot;left&quot;:260.7532283464567,&quot;top&quot;:145.26173228346457,&quot;width&quot;:503.3262204724409}"/>
</p:tagLst>
</file>

<file path=ppt/tags/tag91.xml><?xml version="1.0" encoding="utf-8"?>
<p:tagLst xmlns:p="http://schemas.openxmlformats.org/presentationml/2006/main">
  <p:tag name="COMMONDATA" val="eyJoZGlkIjoiZmIwOTVkYzZhMDM3MmZhODJjYWJhOGMzYTg4OWJlYTIifQ==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tailEnd type="triangl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sz="900" dirty="0">
            <a:solidFill>
              <a:schemeClr val="tx1"/>
            </a:solidFill>
            <a:latin typeface="黑体" panose="02010609060101010101" pitchFamily="2" charset="-122"/>
            <a:ea typeface="黑体" panose="02010609060101010101" pitchFamily="2" charset="-122"/>
          </a:defRPr>
        </a:defPPr>
      </a:lstStyle>
      <a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a:style>
    </a:sp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2295</Words>
  <Application>WPS 演示</Application>
  <PresentationFormat>A4 纸张(210x297 毫米)</PresentationFormat>
  <Paragraphs>258</Paragraphs>
  <Slides>18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黑体</vt:lpstr>
      <vt:lpstr>华文细黑</vt:lpstr>
      <vt:lpstr>微软雅黑</vt:lpstr>
      <vt:lpstr>Impact</vt:lpstr>
      <vt:lpstr>时尚中黑简体</vt:lpstr>
      <vt:lpstr>Times New Roman</vt:lpstr>
      <vt:lpstr>Calibri</vt:lpstr>
      <vt:lpstr>Verdana</vt:lpstr>
      <vt:lpstr>Arial Unicode MS</vt:lpstr>
      <vt:lpstr>默认设计模板</vt:lpstr>
      <vt:lpstr>Word.Document.8</vt:lpstr>
      <vt:lpstr>Word.Document.8</vt:lpstr>
      <vt:lpstr>Word.Document.8</vt:lpstr>
      <vt:lpstr>Word.Document.12</vt:lpstr>
      <vt:lpstr>Paint.Picture</vt:lpstr>
      <vt:lpstr>PowerPoint 演示文稿</vt:lpstr>
      <vt:lpstr>目录</vt:lpstr>
      <vt:lpstr>项目概述</vt:lpstr>
      <vt:lpstr>目录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liushijin</dc:creator>
  <cp:lastModifiedBy>超云智造</cp:lastModifiedBy>
  <cp:revision>7478</cp:revision>
  <dcterms:created xsi:type="dcterms:W3CDTF">2008-12-08T08:54:00Z</dcterms:created>
  <dcterms:modified xsi:type="dcterms:W3CDTF">2024-03-02T06:53:59Z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1D776F407D874DB98EC0496840B45038_13</vt:lpwstr>
  </property>
  <property fmtid="{D5CDD505-2E9C-101B-9397-08002B2CF9AE}" pid="3" name="KSOProductBuildVer">
    <vt:lpwstr>2052-12.1.0.16388</vt:lpwstr>
  </property>
</Properties>
</file>